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e9836cb28040a4" /><Relationship Type="http://schemas.openxmlformats.org/officeDocument/2006/relationships/extended-properties" Target="/docProps/app.xml" Id="R39f0b0cf2ac04fc6" /><Relationship Type="http://schemas.openxmlformats.org/officeDocument/2006/relationships/officeDocument" Target="/ppt/presentation.xml" Id="R24ab966b6dd84c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13fc94091b4cdf"/>
  </p:sldMasterIdLst>
  <p:notesMasterIdLst>
    <p:notesMasterId xmlns:r="http://schemas.openxmlformats.org/officeDocument/2006/relationships" r:id="R38125e93ae0d4d36"/>
  </p:notesMasterIdLst>
  <p:sldIdLst>
    <p:sldId xmlns:r="http://schemas.openxmlformats.org/officeDocument/2006/relationships" id="256" r:id="R1b651c1302934390"/>
    <p:sldId xmlns:r="http://schemas.openxmlformats.org/officeDocument/2006/relationships" id="257" r:id="R777bd9ccc71e4c32"/>
    <p:sldId xmlns:r="http://schemas.openxmlformats.org/officeDocument/2006/relationships" id="258" r:id="R46a18268846749f7"/>
    <p:sldId xmlns:r="http://schemas.openxmlformats.org/officeDocument/2006/relationships" id="259" r:id="R1605e623ebf5458c"/>
    <p:sldId xmlns:r="http://schemas.openxmlformats.org/officeDocument/2006/relationships" id="260" r:id="Rd9b384d923b94e23"/>
    <p:sldId xmlns:r="http://schemas.openxmlformats.org/officeDocument/2006/relationships" id="261" r:id="Re34879ad28a3444a"/>
    <p:sldId xmlns:r="http://schemas.openxmlformats.org/officeDocument/2006/relationships" id="262" r:id="R693cc64552e244ac"/>
    <p:sldId xmlns:r="http://schemas.openxmlformats.org/officeDocument/2006/relationships" id="263" r:id="R5b74aa2f2f764011"/>
    <p:sldId xmlns:r="http://schemas.openxmlformats.org/officeDocument/2006/relationships" id="264" r:id="R9772a3eecc0d46ca"/>
    <p:sldId xmlns:r="http://schemas.openxmlformats.org/officeDocument/2006/relationships" id="265" r:id="R884938e165b54459"/>
    <p:sldId xmlns:r="http://schemas.openxmlformats.org/officeDocument/2006/relationships" id="266" r:id="Rf22e8136a88d44da"/>
    <p:sldId xmlns:r="http://schemas.openxmlformats.org/officeDocument/2006/relationships" id="267" r:id="R3066221faed14306"/>
    <p:sldId xmlns:r="http://schemas.openxmlformats.org/officeDocument/2006/relationships" id="268" r:id="R75c8bdae8de948ff"/>
    <p:sldId xmlns:r="http://schemas.openxmlformats.org/officeDocument/2006/relationships" id="269" r:id="Raed19920172d4ae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5bc3f4915b43a9" /><Relationship Type="http://schemas.openxmlformats.org/officeDocument/2006/relationships/slideMaster" Target="/ppt/slideMasters/slideMaster1.xml" Id="R7913fc94091b4cdf" /><Relationship Type="http://schemas.openxmlformats.org/officeDocument/2006/relationships/notesMaster" Target="/ppt/notesMasters/notesMaster1.xml" Id="R38125e93ae0d4d36" /><Relationship Type="http://schemas.openxmlformats.org/officeDocument/2006/relationships/presProps" Target="/ppt/presProps.xml" Id="R2cf15728a3ef4f0f" /><Relationship Type="http://schemas.openxmlformats.org/officeDocument/2006/relationships/viewProps" Target="/ppt/viewProps.xml" Id="R176793f037214955" /><Relationship Type="http://schemas.openxmlformats.org/officeDocument/2006/relationships/tableStyles" Target="/ppt/tableStyles.xml" Id="R3fdda7fb583341ed" /><Relationship Type="http://schemas.openxmlformats.org/officeDocument/2006/relationships/slide" Target="/ppt/slides/slide1.xml" Id="R1b651c1302934390" /><Relationship Type="http://schemas.openxmlformats.org/officeDocument/2006/relationships/slide" Target="/ppt/slides/slide2.xml" Id="R777bd9ccc71e4c32" /><Relationship Type="http://schemas.openxmlformats.org/officeDocument/2006/relationships/slide" Target="/ppt/slides/slide3.xml" Id="R46a18268846749f7" /><Relationship Type="http://schemas.openxmlformats.org/officeDocument/2006/relationships/slide" Target="/ppt/slides/slide4.xml" Id="R1605e623ebf5458c" /><Relationship Type="http://schemas.openxmlformats.org/officeDocument/2006/relationships/slide" Target="/ppt/slides/slide5.xml" Id="Rd9b384d923b94e23" /><Relationship Type="http://schemas.openxmlformats.org/officeDocument/2006/relationships/slide" Target="/ppt/slides/slide6.xml" Id="Re34879ad28a3444a" /><Relationship Type="http://schemas.openxmlformats.org/officeDocument/2006/relationships/slide" Target="/ppt/slides/slide7.xml" Id="R693cc64552e244ac" /><Relationship Type="http://schemas.openxmlformats.org/officeDocument/2006/relationships/slide" Target="/ppt/slides/slide8.xml" Id="R5b74aa2f2f764011" /><Relationship Type="http://schemas.openxmlformats.org/officeDocument/2006/relationships/slide" Target="/ppt/slides/slide9.xml" Id="R9772a3eecc0d46ca" /><Relationship Type="http://schemas.openxmlformats.org/officeDocument/2006/relationships/slide" Target="/ppt/slides/slide10.xml" Id="R884938e165b54459" /><Relationship Type="http://schemas.openxmlformats.org/officeDocument/2006/relationships/slide" Target="/ppt/slides/slide11.xml" Id="Rf22e8136a88d44da" /><Relationship Type="http://schemas.openxmlformats.org/officeDocument/2006/relationships/slide" Target="/ppt/slides/slide12.xml" Id="R3066221faed14306" /><Relationship Type="http://schemas.openxmlformats.org/officeDocument/2006/relationships/slide" Target="/ppt/slides/slide13.xml" Id="R75c8bdae8de948ff" /><Relationship Type="http://schemas.openxmlformats.org/officeDocument/2006/relationships/slide" Target="/ppt/slides/slide14.xml" Id="Raed19920172d4a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b5cdf593544c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df1c85661841aa" /><Relationship Type="http://schemas.openxmlformats.org/officeDocument/2006/relationships/notesMaster" Target="/ppt/notesMasters/notesMaster1.xml" Id="R2349b315709b44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25dccfd94d4f36" /><Relationship Type="http://schemas.openxmlformats.org/officeDocument/2006/relationships/notesMaster" Target="/ppt/notesMasters/notesMaster1.xml" Id="Rb3772f9a350f4a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d3b425367748f2" /><Relationship Type="http://schemas.openxmlformats.org/officeDocument/2006/relationships/notesMaster" Target="/ppt/notesMasters/notesMaster1.xml" Id="Rae033332decc48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63bfbcb5494fe4" /><Relationship Type="http://schemas.openxmlformats.org/officeDocument/2006/relationships/notesMaster" Target="/ppt/notesMasters/notesMaster1.xml" Id="R426afe9b9a4a4d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e7331a92254e31" /><Relationship Type="http://schemas.openxmlformats.org/officeDocument/2006/relationships/notesMaster" Target="/ppt/notesMasters/notesMaster1.xml" Id="R5390111bd9a941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801c42a55d4f14" /><Relationship Type="http://schemas.openxmlformats.org/officeDocument/2006/relationships/notesMaster" Target="/ppt/notesMasters/notesMaster1.xml" Id="R25f74161c9ab41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03cefb7c114e95" /><Relationship Type="http://schemas.openxmlformats.org/officeDocument/2006/relationships/notesMaster" Target="/ppt/notesMasters/notesMaster1.xml" Id="R2dfa2bc3460745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137db375144500" /><Relationship Type="http://schemas.openxmlformats.org/officeDocument/2006/relationships/notesMaster" Target="/ppt/notesMasters/notesMaster1.xml" Id="Rdc4dd7f7ef0f4b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a15f9655e041b5" /><Relationship Type="http://schemas.openxmlformats.org/officeDocument/2006/relationships/notesMaster" Target="/ppt/notesMasters/notesMaster1.xml" Id="Rcbcfa405179f45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432a72b4604086" /><Relationship Type="http://schemas.openxmlformats.org/officeDocument/2006/relationships/notesMaster" Target="/ppt/notesMasters/notesMaster1.xml" Id="Rfc2fb827e7bb40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a073a2c8484564" /><Relationship Type="http://schemas.openxmlformats.org/officeDocument/2006/relationships/notesMaster" Target="/ppt/notesMasters/notesMaster1.xml" Id="R0d153a68f2154f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4597286f3c4c27" /><Relationship Type="http://schemas.openxmlformats.org/officeDocument/2006/relationships/notesMaster" Target="/ppt/notesMasters/notesMaster1.xml" Id="R72c30257a25f4a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c19abc75cd4a8a" /><Relationship Type="http://schemas.openxmlformats.org/officeDocument/2006/relationships/notesMaster" Target="/ppt/notesMasters/notesMaster1.xml" Id="R17615e11ee9c42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42b4dd910845e8" /><Relationship Type="http://schemas.openxmlformats.org/officeDocument/2006/relationships/notesMaster" Target="/ppt/notesMasters/notesMaster1.xml" Id="R0fe9b267167d47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1fa31c8c74b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d1b5b72dc4e9e" /><Relationship Type="http://schemas.openxmlformats.org/officeDocument/2006/relationships/image" Target="/ppt/media/image.jpeg" Id="R0c9a76e8036b49fd" /><Relationship Type="http://schemas.openxmlformats.org/officeDocument/2006/relationships/image" Target="/ppt/media/image.png" Id="Rcef346f64e2944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77475d9ae40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4aa7379fb4c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b758d92b5742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1a34a2b79432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dee8b6a404db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b670b26cc546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70b1ff58849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5e7db39d5e4c1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35e9007964af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345805-C2CF-45A1-BC03-0A34EA6DE5A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6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83F0F9F-DF59-4318-8E7D-5B342CF04A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C93DD6-F10F-4D01-8317-FA8137B662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B11130-45E3-4422-9CAF-0182EA7018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9C1669-F78B-440A-BD42-3D5C8E201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0749BD-1427-4AF6-83C8-9B8B8760C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-3867033" y="-2048688"/>
            <a:ext cx="7029567" cy="6697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54BC57-6FF8-4BE8-A4A6-340C4B652B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2844EA-EBD0-4782-BB1A-C420E0B70A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593B4A-1896-44F9-BD8C-EFC777EF2D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18C45B-801C-45B5-8BA3-DE9645BF4F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  <p:pic>
        <p:nvPicPr>
          <p:cNvPr id="2052" name="Picture 4">
            <a:extLst xmlns:a="http://schemas.openxmlformats.org/drawingml/2006/main">
              <a:ext uri="{FF2B5EF4-FFF2-40B4-BE49-F238E27FC236}">
                <a16:creationId xmlns:a16="http://schemas.microsoft.com/office/drawing/2014/main" id="{F1A33C3F-7297-46DA-B112-C2DA8EB4A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a76e8036b49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7646"/>
            <a:ext cx="1280593" cy="1086452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CF6B6FA-395D-4EB0-92D6-0DEE851891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346f64e294455"/>
          <a:srcRect xmlns:a="http://schemas.openxmlformats.org/drawingml/2006/main" l="0" t="0" r="88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2103" y="41470"/>
            <a:ext cx="1280593" cy="126712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880350-5FB1-42A3-8ABE-276023437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8F25F4-9BC2-4C16-925F-44BAB72DE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0F705D-8B57-4ED8-AD2D-F749D702A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D67180-EC1A-47F5-A245-335B0283C5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F0FB26-734A-404D-9B9C-C134B456D4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74FCA3-AD76-4C6C-9EFD-00D1FA2FE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8C89EB-C3E2-4AC7-991A-E35EBEF7C4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4602BF7-4898-4227-93E7-09A6A70C53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D32D04A-8D9C-42C9-B7A8-0E4AC580CF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29A5D8-5E0D-407C-920A-08D20A1F86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659FFF-3639-464D-B137-77DBF561F0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376F48-C0B3-429F-B332-D985A8A90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6893D1-3E33-494C-BB6C-D1FD20211B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43B9BD4-116A-4017-B263-F86C81507F0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88D4937-7679-4FF7-A49C-64643EC82C5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CED046C-B473-40EB-9967-D47DFAF6756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76F6DF0-AE9D-4988-A64C-A171DB50CE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90B559B-6ED9-4F50-B9D1-86DD3A1A88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BE98509-3929-4416-A9C5-15F7BA6D80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B91517-41B3-4BDB-8193-B1CCF230BB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27C3729-C756-4642-8AA6-74C018C056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FB450A6-45AD-438B-B764-B36072EE82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1C37486-2568-44BE-9DAE-26611830D1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EA7D96D-229C-4D79-89AF-AB20378FF7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A1DEF40-48BD-43FA-AA66-742E456D88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C699A63-56CA-4B9B-9EF4-9CCDB22BEE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B2803F-38D2-452C-B483-FE1B0FB24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E318239-A55E-4E7F-8449-94668BFF22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B5E946-7209-4484-8D93-0D776AE565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51027B-2838-4DFD-AB92-150DDFFF6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1A0E8AD-9ECD-4F88-93DB-0306118303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68119A-3196-4B0C-A087-C038FC4B7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A674C4-284E-453B-BE77-6A4A2DA69C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855047B-08ED-438C-B309-E154BD8929A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3F81477-F4F8-47E4-A03D-545FF84635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A0373F2-611A-4A4E-BE51-16C65A0760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043626-E7EE-4433-B213-CA5EAD6963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FC5789-9D17-4C8B-97AF-30CE0E0E8B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64CCF-B5E5-420E-8CBA-E87915E93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9583D2-51D1-484E-97ED-57A580A055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44BE41-B034-4A40-98DE-9623DA168B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DBBA0C-2862-4345-BAB5-6F83229117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C1E807-7079-4E24-B915-442481F842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628B047-EDAA-4E84-91B4-F853A7321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39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E9B318-9BA8-48D8-B71C-5089188757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39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E2079A-6861-4B87-97C0-D2DB5C63CC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28A4C5-BCDE-48CF-B116-01BA7F2925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076D9D-C4BC-413F-A2B3-AE1B791AB5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0abaa206fe43c2" /><Relationship Type="http://schemas.openxmlformats.org/officeDocument/2006/relationships/slideLayout" Target="/ppt/slideLayouts/slideLayout1.xml" Id="R7c529d2956104ed4" /><Relationship Type="http://schemas.openxmlformats.org/officeDocument/2006/relationships/slideLayout" Target="/ppt/slideLayouts/slideLayout2.xml" Id="R8bfe4cb20f284a1c" /><Relationship Type="http://schemas.openxmlformats.org/officeDocument/2006/relationships/slideLayout" Target="/ppt/slideLayouts/slideLayout3.xml" Id="Rfe50a3f6d9af4f2e" /><Relationship Type="http://schemas.openxmlformats.org/officeDocument/2006/relationships/slideLayout" Target="/ppt/slideLayouts/slideLayout4.xml" Id="R533e6f0a7fa1435f" /><Relationship Type="http://schemas.openxmlformats.org/officeDocument/2006/relationships/slideLayout" Target="/ppt/slideLayouts/slideLayout5.xml" Id="Rf867183a0b6f4286" /><Relationship Type="http://schemas.openxmlformats.org/officeDocument/2006/relationships/slideLayout" Target="/ppt/slideLayouts/slideLayout6.xml" Id="R6982ea6068db4cc0" /><Relationship Type="http://schemas.openxmlformats.org/officeDocument/2006/relationships/slideLayout" Target="/ppt/slideLayouts/slideLayout7.xml" Id="R26f93f42b6bd4bcc" /><Relationship Type="http://schemas.openxmlformats.org/officeDocument/2006/relationships/slideLayout" Target="/ppt/slideLayouts/slideLayout8.xml" Id="Rc0fd502153ca4058" /><Relationship Type="http://schemas.openxmlformats.org/officeDocument/2006/relationships/slideLayout" Target="/ppt/slideLayouts/slideLayout9.xml" Id="Rc06534d0881143af" /><Relationship Type="http://schemas.openxmlformats.org/officeDocument/2006/relationships/slideLayout" Target="/ppt/slideLayouts/slideLayout10.xml" Id="R1a65af1d8f004c16" /><Relationship Type="http://schemas.openxmlformats.org/officeDocument/2006/relationships/slideLayout" Target="/ppt/slideLayouts/slideLayout11.xml" Id="R538f90a549aa44d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4D206F3-15C8-462A-802E-80A9FB57E2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ACA12A-02B5-41D9-BD3B-8B77E206D9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CDFAB7-570C-4F60-BD05-D86B7E3765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1E888D-1EA5-487B-A90D-C36B947D11C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BD8520-C083-44B2-84F4-E5258EDDBB8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529d2956104ed4"/>
    <p:sldLayoutId xmlns:r="http://schemas.openxmlformats.org/officeDocument/2006/relationships" id="2147483650" r:id="R8bfe4cb20f284a1c"/>
    <p:sldLayoutId xmlns:r="http://schemas.openxmlformats.org/officeDocument/2006/relationships" id="2147483651" r:id="Rfe50a3f6d9af4f2e"/>
    <p:sldLayoutId xmlns:r="http://schemas.openxmlformats.org/officeDocument/2006/relationships" id="2147483652" r:id="R533e6f0a7fa1435f"/>
    <p:sldLayoutId xmlns:r="http://schemas.openxmlformats.org/officeDocument/2006/relationships" id="2147483653" r:id="Rf867183a0b6f4286"/>
    <p:sldLayoutId xmlns:r="http://schemas.openxmlformats.org/officeDocument/2006/relationships" id="2147483654" r:id="R6982ea6068db4cc0"/>
    <p:sldLayoutId xmlns:r="http://schemas.openxmlformats.org/officeDocument/2006/relationships" id="2147483655" r:id="R26f93f42b6bd4bcc"/>
    <p:sldLayoutId xmlns:r="http://schemas.openxmlformats.org/officeDocument/2006/relationships" id="2147483656" r:id="Rc0fd502153ca4058"/>
    <p:sldLayoutId xmlns:r="http://schemas.openxmlformats.org/officeDocument/2006/relationships" id="2147483657" r:id="Rc06534d0881143af"/>
    <p:sldLayoutId xmlns:r="http://schemas.openxmlformats.org/officeDocument/2006/relationships" id="2147483658" r:id="R1a65af1d8f004c16"/>
    <p:sldLayoutId xmlns:r="http://schemas.openxmlformats.org/officeDocument/2006/relationships" id="2147483659" r:id="R538f90a549aa44d6"/>
  </p:sldLayoutIdLst>
  <p:hf hdr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64c2183134940" /><Relationship Type="http://schemas.openxmlformats.org/officeDocument/2006/relationships/image" Target="/ppt/media/image2.png" Id="R551a39752d7c4b94" /><Relationship Type="http://schemas.openxmlformats.org/officeDocument/2006/relationships/image" Target="/ppt/media/image.png" Id="Rdba84819a5174720" /><Relationship Type="http://schemas.openxmlformats.org/officeDocument/2006/relationships/notesSlide" Target="/ppt/notesSlides/notesSlide1.xml" Id="R47a7b71d8cf042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2275dabf9f4027" /><Relationship Type="http://schemas.openxmlformats.org/officeDocument/2006/relationships/notesSlide" Target="/ppt/notesSlides/notesSlide2.xml" Id="R0a1aa728c6124e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3d7b21d4ec4736" /><Relationship Type="http://schemas.openxmlformats.org/officeDocument/2006/relationships/notesSlide" Target="/ppt/notesSlides/notesSlide3.xml" Id="Ra2103f0c49d343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b39de9b16f4f3c" /><Relationship Type="http://schemas.openxmlformats.org/officeDocument/2006/relationships/notesSlide" Target="/ppt/notesSlides/notesSlide4.xml" Id="R114a9d9e76814e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a7d03fc8604cd3" /><Relationship Type="http://schemas.openxmlformats.org/officeDocument/2006/relationships/notesSlide" Target="/ppt/notesSlides/notesSlide5.xml" Id="Rc85ddcdead00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c23b9e4c734d85" /><Relationship Type="http://schemas.openxmlformats.org/officeDocument/2006/relationships/notesSlide" Target="/ppt/notesSlides/notesSlide6.xml" Id="Re6c5c64b5e8844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d13bf3a87f497d" /><Relationship Type="http://schemas.openxmlformats.org/officeDocument/2006/relationships/notesSlide" Target="/ppt/notesSlides/notesSlide7.xml" Id="R174aa7b4ddf14d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faf5bd3c7546ab" /><Relationship Type="http://schemas.openxmlformats.org/officeDocument/2006/relationships/notesSlide" Target="/ppt/notesSlides/notesSlide8.xml" Id="Rc476b19416c841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dd821aa87f4102" /><Relationship Type="http://schemas.openxmlformats.org/officeDocument/2006/relationships/notesSlide" Target="/ppt/notesSlides/notesSlide9.xml" Id="Rc351d17e120f43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4fa864c9724408" /><Relationship Type="http://schemas.openxmlformats.org/officeDocument/2006/relationships/notesSlide" Target="/ppt/notesSlides/notesSlide10.xml" Id="R41a1f5f822dd44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894e4b2804413f" /><Relationship Type="http://schemas.openxmlformats.org/officeDocument/2006/relationships/notesSlide" Target="/ppt/notesSlides/notesSlide11.xml" Id="R6df32a28452d45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5e030cccea453c" /><Relationship Type="http://schemas.openxmlformats.org/officeDocument/2006/relationships/notesSlide" Target="/ppt/notesSlides/notesSlide12.xml" Id="R5e9fbc031bdf4a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5afae1bf742a4" /><Relationship Type="http://schemas.openxmlformats.org/officeDocument/2006/relationships/notesSlide" Target="/ppt/notesSlides/notesSlide13.xml" Id="R2bb92932684c41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cecf10916e4443" /><Relationship Type="http://schemas.openxmlformats.org/officeDocument/2006/relationships/notesSlide" Target="/ppt/notesSlides/notesSlide14.xml" Id="Rb57ddcf8eaae4b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E5FA46-19DA-4B05-93DD-14D19946220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16927" y="1698208"/>
            <a:ext cx="8887521" cy="880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accent1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  <a:endParaRPr sz="3200" b="1">
              <a:solidFill>
                <a:schemeClr val="accent1">
                  <a:lumMod val="50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563BF5F-37A4-4BC8-B154-F0B83DA5D7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93469" y="3732357"/>
            <a:ext cx="6190488" cy="2971800"/>
          </a:xfrm>
        </p:spPr>
        <p:txBody>
          <a:bodyPr xmlns:a="http://schemas.openxmlformats.org/drawingml/2006/main">
            <a:normAutofit fontScale="78891" lnSpcReduction="20000"/>
          </a:bodyPr>
          <a:lstStyle xmlns:a="http://schemas.openxmlformats.org/drawingml/2006/main">
            <a:defPPr algn="ctr">
              <a:defRPr sz="1350" b="1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spcBef>
                <a:spcPts val="0"/>
              </a:spcBef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MediFlow: An Intelligent Virtual Crowd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908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Management Platform</a:t>
            </a:r>
            <a:endParaRPr sz="4800"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spcBef>
                <a:spcPts val="776"/>
              </a:spcBef>
              <a:buClr>
                <a:schemeClr val="dk2"/>
              </a:buClr>
              <a:buSzPct val="100000"/>
              <a:buNone/>
            </a:pPr>
            <a:r>
              <a:rPr sz="3700" b="1">
                <a:latin typeface="Times New Roman"/>
                <a:ea typeface="Times New Roman"/>
                <a:cs typeface="Times New Roman"/>
              </a:rPr>
              <a:t/>
            </a:r>
            <a:endParaRPr sz="37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776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Submitted by:</a:t>
            </a:r>
            <a:endParaRPr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776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Student Name(s) (USN)</a:t>
            </a:r>
            <a:endParaRPr b="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spcBef>
                <a:spcPts val="820"/>
              </a:spcBef>
              <a:buClr>
                <a:schemeClr val="dk2"/>
              </a:buClr>
              <a:buSzPct val="100000"/>
              <a:buNone/>
            </a:pPr>
            <a:r>
              <a:rPr sz="3400" b="1">
                <a:latin typeface="Times New Roman"/>
                <a:ea typeface="Times New Roman"/>
                <a:cs typeface="Times New Roman"/>
              </a:rPr>
              <a:t/>
            </a:r>
            <a:endParaRPr sz="34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UNDER THE GUIDANCE OF:</a:t>
            </a: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Faculty Guide</a:t>
            </a: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Department of CSE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BMSIT&amp;M</a:t>
            </a:r>
            <a:endParaRPr sz="22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spcBef>
                <a:spcPts val="809"/>
              </a:spcBef>
              <a:buClr>
                <a:schemeClr val="dk2"/>
              </a:buClr>
              <a:buSzPct val="100000"/>
              <a:buNone/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2026–27</a:t>
            </a:r>
            <a:endParaRPr sz="22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8" name="Picture 4">
            <a:extLst xmlns:a="http://schemas.openxmlformats.org/drawingml/2006/main">
              <a:ext uri="{FF2B5EF4-FFF2-40B4-BE49-F238E27FC236}">
                <a16:creationId xmlns:a16="http://schemas.microsoft.com/office/drawing/2014/main" id="{D2C20C25-7749-4B62-AFAB-D8A478245F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a39752d7c4b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010" y="-16064"/>
            <a:ext cx="9012936" cy="2014174"/>
          </a:xfrm>
          <a:prstGeom xmlns:a="http://schemas.openxmlformats.org/drawingml/2006/main" prst="rect">
            <a:avLst/>
          </a:prstGeom>
        </p:spPr>
      </p:pic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45F9DE8D-BEDA-78E6-1063-A5D3E745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546" y="2716554"/>
            <a:ext cx="6629400" cy="88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70000" lnSpcReduction="20000"/>
          </a:bodyPr>
          <a:lstStyle xmlns:a="http://schemas.openxmlformats.org/drawingml/2006/main">
            <a:lvl1pPr algn="ctr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 sz="2800" b="1">
              <a:solidFill>
                <a:schemeClr val="accent2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Mini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Project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- Review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1 </a:t>
            </a:r>
          </a:p>
          <a:p xmlns:a="http://schemas.openxmlformats.org/drawingml/2006/main"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V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Sem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(BCS506)</a:t>
            </a:r>
          </a:p>
          <a:p xmlns:a="http://schemas.openxmlformats.org/drawingml/2006/main">
            <a:endParaRPr sz="2800" b="1">
              <a:solidFill>
                <a:schemeClr val="accent2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653BB643-DE60-4328-8B0A-4F079635A2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84819a5174720"/>
          <a:srcRect xmlns:a="http://schemas.openxmlformats.org/drawingml/2006/main" l="0" t="0" r="88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94471" y="118194"/>
            <a:ext cx="1596807" cy="15800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85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>CONTENTS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3611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and Proposed System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Major Modules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Hybrid Queue Optimization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Workflow and Architecture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Technology Stack and Database Design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Sample Use Case</a:t>
            </a:r>
            <a:endParaRPr sz="2400" spc="-1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Expected Benefits and Future Enhancements</a:t>
            </a:r>
          </a:p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54746-3B16-4D85-B1A4-98794C41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A356B-FF95-44D1-9689-32864738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2C999-57A3-4C55-B065-BB7FA29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Virtual queues reduce unnecessary waiting inside care facilities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E2CA3-C347-4474-8B52-E542D0F5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CD2FE-8E17-4915-A9C1-A752C047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6C53C-123F-4FC9-AFBA-5E8479D3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Hospitals and diagnostic centers often face congestion at registration, consultation, labs, pharmacy, and billing.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28985-3929-4B52-941A-649BFB2C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1B64E-0F83-4D11-A474-A145D023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Long physical queues delay care, strain staff, and increase infection exposure for vulnerable patients.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4E8038-D469-4232-B270-058BB340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E076F-5605-4DC5-920D-CC9AA15B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MediFlow gives patients a digital token, estimated waiting time, and arrival recommendation.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36191-2BE8-4D7C-9DC2-01A5BA6C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5C62B-D82C-4880-9E36-A972F2FF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910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 live dashboard helps staff see queue growth, service delays, capacity, and crowding risk.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122CC-EA2B-4201-AAFD-5F45656D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2CA7E-17D0-4FD0-9D64-29F30C5A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Problem Statement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FF3E2-B014-4D78-9995-0F6BF984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Manual and first-come-first-served queues cannot adapt to clinical reality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8E2A8-0976-474F-BD5D-33390F58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78767-F949-4EAC-AED9-D3AB454C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27B7A-91E4-4CFE-B476-433287A6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Urgency, age risk, appointments, walk-ins, and emergency cases require different treatment.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8B93F8-D79A-46A8-A42C-A9135D5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96380-CB02-4DAE-B391-F0D8AEF6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575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Doctor delays and variable consultation times make static appointment registers unreliable.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CC718-9D9F-4FA9-8400-BC16B143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242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E3F4E-D4D8-48E0-82A0-A0907622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52425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Patients move through dependent stages such as registration, consultation, lab testing, and pharmacy.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5D3C4-A21B-48D6-AE5C-B95E66A5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6E133-5221-4A90-88F1-E025ADC5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91000"/>
            <a:ext cx="901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Administrators lack early warning when peak-hour demand exceeds seating or service capacity.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16A7A-D22A-4A8D-9CF3-EA5CD0A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85E10-BC84-41EB-B2E0-67435443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Project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AB39B-DD10-4934-9248-AC57A425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Patient-focused flow management with operational 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346A6-C52E-4E2A-93F9-8190D1C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F0662-7C53-408D-B5D0-7E1FB487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C2A37-A9C0-4A18-9E07-79F663CF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Reduce crowding in waiting areas through virtual tokens and suggested arrival times.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83CF3-F02F-44B2-83DA-53B5E826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43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F6F49-0439-421F-B0E9-2A696476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432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Provide real-time queue position and estimated waiting-time ranges.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127AC-9EAF-4DD2-BF0B-04096654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956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3C310-4E49-469D-8728-47C5F7B3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956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Prioritize emergency and high-risk patients while preventing excessive routine waits.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07407-D4CD-452D-BF20-FC77FF2E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481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FA571-6C96-4A24-BFDC-C1D76C70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84810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Predict peak load and help staff allocate counters, rooms, doctors, and technicians.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7724F-F398-44F6-8C00-FB64CA8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005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E0E57-BB43-49E1-9446-4464D46B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400550"/>
            <a:ext cx="9010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Maintain a digital movement record for each patient service stage.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5DC4E-F91B-4043-BFCD-038C791F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1E338-F797-49C1-A14D-F5500EB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Existing System and MediFlow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32E62-FD85-479C-956E-78A40A6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From manual queue handling to adaptive patient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C4AA8-3A4B-49F0-B3DF-2D622726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544B5-2410-4356-BA05-CF2D3418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A23434"/>
                </a:solidFill>
              </a:defRPr>
            </a:pPr>
            <a:r>
              <a:rPr sz="1950" b="1">
                <a:solidFill>
                  <a:srgbClr val="A23434"/>
                </a:solidFill>
              </a:rPr>
              <a:t>Existing approach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412A3-287C-4B1D-8A3F-37A176EF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9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243F62"/>
                </a:solidFill>
              </a:defRPr>
            </a:pPr>
            <a:r>
              <a:rPr sz="1950" b="1">
                <a:solidFill>
                  <a:srgbClr val="243F62"/>
                </a:solidFill>
              </a:rPr>
              <a:t>MediFlow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E0680-E039-4A8D-900B-4EF56F31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C4C7DB-BB9E-493A-8907-ADAACCE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Paper slips or isolated registers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ED53E-B8A1-4F17-95E9-7DA4BAFB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EE69E-8389-4B26-ADB6-9347EDC5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First-come-first-served 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1332C-FE56-4899-86AE-DCFCCFB4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2033B-4084-4AD8-942C-9F5B8A46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Manual delay communication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4570C-3B48-4B32-96A6-BAA58B2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A23434"/>
                </a:solidFill>
              </a:defRPr>
            </a:pPr>
            <a:r>
              <a:rPr sz="172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965D3-E3E5-4462-A549-25A3BBB8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Limited visibility of queue 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A537A-E5EA-4ADC-AB4A-4FF86C56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38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BD978-E272-4A3A-BCDE-125304E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Digital tokens from app, kiosk, web, or reception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63ED5-15D1-4431-A107-C178A648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A75F7-CADA-4304-9C41-1E6AA56C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Weighted priority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DC4BC-D16D-4551-B97C-77336F05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19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672CC5-05D7-4858-B55D-780AD7F3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19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Live alerts and revised arrival times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ED042-44EE-4BC7-8A15-4EA21FD0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10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3F62"/>
                </a:solidFill>
              </a:defRPr>
            </a:pPr>
            <a:r>
              <a:rPr sz="1725" b="1">
                <a:solidFill>
                  <a:srgbClr val="243F62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59FAA-0444-419B-A4CA-C0EA98F0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101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Dashboard with capacity and crowd-risk signals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294E22-6167-4931-B63D-9E65EDB3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0" cy="26670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5CB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469A4-1C30-46E5-92B4-45EF94EE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F447F-260F-466C-A0E8-085FCA56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Major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FAA30-0F0F-489E-8839-127C052E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A connected service layer for patients and hospital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5A30B-5A13-483B-A518-3C0641BF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F71D9-B614-44C5-814C-3B4F980A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33596-54C9-4159-AB6F-081ED27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860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Patient registration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B1BF9-B19E-4E3E-A02F-745596B0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Appointments, walk-in tokens, referrals, and queue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8DF92-0DFF-4E60-8C96-F1CAD1E7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1D928-F22D-4FB4-9C2A-FBA74E0C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Smart virtual queue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7552F-C613-487B-8BB4-48E1E0C9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241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Token display, patients ahead, ETA, and arrival prompts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F3FDE-EBA7-4B71-ABF3-6CD1A77C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8102E-6E78-45B1-A5A1-1FA367F4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Priority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BD2FB-744B-4C61-B855-BE4586E1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Urgency, age risk, appointment status, and waiting 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BC9CB-7BA3-4F36-A27D-6A5C8054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B9A1F-7115-43D4-8F23-F3595AB8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Prediction and alerts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B61D7-6375-4237-9E9E-35F75E47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95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Waiting-time estimation and crowd-risk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1F6C8-1CCB-43ED-BEDC-38E9EB61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D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C1F5D8-BC6E-4EC7-9773-81326091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3F62"/>
                </a:solidFill>
              </a:defRPr>
            </a:pPr>
            <a:r>
              <a:rPr sz="1425" b="1">
                <a:solidFill>
                  <a:srgbClr val="243F62"/>
                </a:solidFill>
              </a:rPr>
              <a:t>Admin dashboard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6895E6-E6BE-4517-8589-503BD7B4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Queues, staff status, capacity, analytics, and action alerts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06B99-1894-4987-8AD6-0C50B385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22150-0F06-4E01-8494-FE8D5F0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Hybrid Queue 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D94CB-91EF-432C-83FE-3FC6DF05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Priority-based allocation plus machine-learning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C86E2-3A2F-4E46-A0CF-43934237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A4DD3-8CFA-457E-9126-18F8E211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Priority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077FD-D6B1-49BE-B764-567014E4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442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(Urgency × Wu) + (Age Risk × Wa) +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(Appointment Status × Ws) + (Waiting Time × Ww)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9A43B-CDD1-4B31-86E7-1C606ED5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Waiting-time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35E7F-1A51-4388-99D3-88550A30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Inputs: queue length, doctor, service type,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staff availability, delays, and historical durations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Output: an estimated range, such as 18–25 minutes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4F4EE-C559-4E55-BB39-D89D2D8F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91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Crowd-risk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AF156-18BB-4D68-B2B9-7DB2DFA4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196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(Current Patients + Predicted Arrivals)</a:t>
            </a:r>
          </a:p>
          <a:p xmlns:a="http://schemas.openxmlformats.org/drawingml/2006/main">
            <a:pPr algn="ctr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÷ Available Service Capacity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E1BB7-944E-4FD0-AB0D-4450B81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Risk levels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3D5F9-669A-4138-8DF0-BEB5A4F7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Green  Low     Yellow  Moderate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Orange  High     Red  Critical overcrowding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AB17D-77E2-4F95-88C8-62A95175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11A99-48CF-4020-B5A1-6CE25D3A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System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6D5F8-CA18-4CF6-9756-BD47CA75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Virtual token issue through service completion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64ACB-BCF1-4D4C-A5DE-99E0B201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141FE-3E5A-4CA9-A1F8-0FE8CD78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B32DB-255B-48AB-BB6C-DFD70919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75B4B-16F2-4C70-A122-70F040C2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Register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3B340-3CCA-4D68-B284-C61CF36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D4153-1217-4519-80B9-F547464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0FFE6-5B3B-463D-8CE6-F66445AF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B8D2D-DAC8-4F34-8E53-CD291D4B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Verify or create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walk-in entry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DE225A-AFC3-477F-93C7-905783CD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A4064-3685-4A29-91A8-987A40F0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84661-8C75-42C7-B31C-B94CCAFB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0095B-DF25-4A29-B8BF-49D8A116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Issue digital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0B68E-F752-4D70-A9EF-D1903CEA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DBFF3-8F3A-48A2-B58F-557026D3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029DE3-7D41-4A70-B699-955E7C15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21B8B-736D-44ED-9EB7-D9033B2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Apply priority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D4D9F-3B0A-43FA-A3E5-D06F9D1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15CAD7-87E9-4583-B579-81D85423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112A42-29CA-4306-93EB-7D7D256C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1C66B-EF72-4DD1-86E3-7E7A74F9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Predict wait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time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D5B21-29B3-4684-86C8-1A9C36C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93361A-C1FD-4FD9-8662-2CBC113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E31D03-AA0C-4312-A07D-EC62F501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43F62"/>
                </a:solidFill>
              </a:defRPr>
            </a:pPr>
            <a:r>
              <a:rPr sz="1125" b="1">
                <a:solidFill>
                  <a:srgbClr val="243F62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679506-CA13-416D-9DF7-82A7E802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Notify and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call patient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E1E42-9188-4F24-804A-6180412E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2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A23434"/>
                </a:solidFill>
              </a:defRPr>
            </a:pPr>
            <a:r>
              <a:rPr sz="22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59F2FE-31BF-48EA-8A40-7FAAD65F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52750"/>
            <a:ext cx="1190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4288">
            <a:solidFill>
              <a:srgbClr val="A2343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26A0B8-28A0-41C7-848E-E6AB25CB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86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23434"/>
                </a:solidFill>
              </a:defRPr>
            </a:pPr>
            <a:r>
              <a:rPr sz="1125" b="1">
                <a:solidFill>
                  <a:srgbClr val="A23434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A1351F-06BD-437F-BFBF-BF143B39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333750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125" b="1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Complete or</a:t>
            </a:r>
          </a:p>
          <a:p xmlns:a="http://schemas.openxmlformats.org/drawingml/2006/main">
            <a:pPr algn="ct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move to next stage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2C8D72-B413-46DE-9B4F-16AC8B12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781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75" b="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At every update, the dashboard recalculates wait estimates and checks crowd risk.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E312B-4D4F-4D93-A9A0-8058F564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DA336-63FB-4249-8020-69D415DB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Proposed System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9CEE5-C59A-4F6E-8D06-9E8F06D2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Real-time patient flow from entry points to operational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1534E-F3ED-4FBC-B9C5-C1359D71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929B4-7341-443E-972F-99971F0B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FC7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0D1AC-5E8D-4AE6-8D1A-05CE6E9B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Entry channels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3CFA8-37C0-4F8D-BBE3-A74D997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Mobile app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Hospital kiosk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Website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Reception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52133-3414-4ED4-BCA2-81CCF67C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76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1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23434"/>
                </a:solidFill>
              </a:defRPr>
            </a:pPr>
            <a:r>
              <a:rPr sz="31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C72D1-C34E-446B-A7ED-14D8707B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14288">
            <a:solidFill>
              <a:srgbClr val="243F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1D272-B5B6-4DBC-A16F-413B840B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43F62"/>
                </a:solidFill>
              </a:defRPr>
            </a:pPr>
            <a:r>
              <a:rPr sz="1650" b="1">
                <a:solidFill>
                  <a:srgbClr val="243F62"/>
                </a:solidFill>
              </a:rPr>
              <a:t>MediFlow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F20C8-736B-4A7D-86A6-B863796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Token service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Priority queue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ML prediction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Notification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F4A9B-6D1C-4201-AEDF-87330DB6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476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31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A23434"/>
                </a:solidFill>
              </a:defRPr>
            </a:pPr>
            <a:r>
              <a:rPr sz="3150" b="1">
                <a:solidFill>
                  <a:srgbClr val="A23434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66622E-F1C9-4AEB-8591-8EDFAA0D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19375"/>
            <a:ext cx="2667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4288">
            <a:solidFill>
              <a:srgbClr val="BFC7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27EBD-BFFC-4B78-86B0-854D1FC7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575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1FE214-A1D3-4AC7-819B-95DF2C91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33750"/>
            <a:ext cx="214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Admin dashboard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Doctor and lab status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Capacity alerts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91BCE-1AC2-47C5-B23F-C19CAC7B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322F0-2970-4E7A-AED6-6CFAAF13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Technology Stack and Data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4E83E-3A9C-45CE-8239-AC4E52CE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Suggested mini-project implementation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C64B4-673A-4A06-9A15-D7C9AB17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A8604-5495-49E2-92A2-1106DA8A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Technology 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53522-2709-4DAA-B2BC-0D5A8D71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58B49-69C5-4F80-8AD2-1EB8A41D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Frontend: React.js, HTML, CSS, 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EF72F-9ECF-47FE-B2C2-CFCCB822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E9D6C-3589-4B7C-9A4E-6A5A6294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004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Mobile: Flutter or React Native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7C268-B183-4C20-B28C-C816987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680BF-28A6-42F6-9373-87FE5C60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338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Backend: Python Flask/Django or Node.js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70645-CB2B-4776-871F-5532B14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9CBF3-87CC-40B2-8E4C-2243F4D3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672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Data and ML: MySQL/PostgreSQL, Python, Scikit-learn, Pandas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40EDB-D58A-430C-9003-2A3B8A6C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6A9B8-065E-48AD-A7C8-C44C8812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006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Real-time updates: Firebase, Socket.IO, or WebSockets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87C79-B34A-475E-BCD5-CD7A1626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Core data entities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B318A-036E-4998-8549-8D973EB4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95242-7A17-4BBF-8DD8-C5B4AA1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Patients and appointments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BFA11-016C-44F0-B6B3-BFAA7415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7D4DD7-46B0-4D01-AC6E-21D26B4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194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Tokens and queue logs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D847A-5D11-4C6E-B607-DC56A2D9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258EA-0A8C-40CC-93E0-96DADCFE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7190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Doctors and departments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FAC78A-4838-4467-90B3-A507E377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CE4AB4-98CA-48FE-A444-D419D9DB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390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Crowd metrics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53562-38BF-4779-941B-664BD568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55E58-8CBA-4443-813D-C651880F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Sample Use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569ED-23DC-4F1B-B1D9-C1B5A56F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Priya’s dermatology consultation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37BE9-BA47-4C07-A31F-20CF9E16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C7804-534B-4C96-9589-A77958C7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3F62"/>
                </a:solidFill>
              </a:defRPr>
            </a:pPr>
            <a:r>
              <a:rPr sz="1575" b="1">
                <a:solidFill>
                  <a:srgbClr val="243F62"/>
                </a:solidFill>
              </a:rPr>
              <a:t>10:00 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0B3E1-B06B-4820-A6B8-539B8C75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1B364-42C0-43C7-BF6F-5B4C1360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Priya books a consultation and receives token D-27.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755FA-13FC-4807-9DFF-530A593D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813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Queue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33814-A29D-4C3A-B1A4-BCBB2B68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7657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DFA44-D7D1-45E5-971D-A5BC9B1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The system sees 18 active patients, a 12-minute delay, and a 9-minute average consultation.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1AAACE-2EC1-46E4-89AE-2063CA29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2427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43F62"/>
                </a:solidFill>
              </a:defRPr>
            </a:pPr>
            <a:r>
              <a:rPr sz="1575" b="1">
                <a:solidFill>
                  <a:srgbClr val="243F62"/>
                </a:solidFill>
              </a:rPr>
              <a:t>10:30 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E2A9A-F4CD-41BA-9CC9-4E8C364A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046A1-F94C-4193-9618-9174EE3B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242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MediFlow advises Priya to arrive at the dermatology waiting area.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CE8EB-E570-4786-B84A-ABB4A290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67225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23434"/>
                </a:solidFill>
              </a:defRPr>
            </a:pPr>
            <a:r>
              <a:rPr sz="1575" b="1">
                <a:solidFill>
                  <a:srgbClr val="A23434"/>
                </a:solidFill>
              </a:rPr>
              <a:t>10:25 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18766-1D9A-49A2-940C-6D22B7D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62475"/>
            <a:ext cx="0" cy="4286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FC7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B3586-746C-492E-9563-5BB8FB3B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672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2222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An alert reports that only two patients remain before her turn and directs her to Room 204.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546C5-006C-4350-8EA7-3FA8EF97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83B50-103C-441D-B6E8-75963D86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Expected Benefits and Future Enhancements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47A07-418E-4737-9967-B48138BA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Near-term operational impact and expansion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D5117-346D-49A9-91E2-161D7BB2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9B30F-EE66-4061-B4A6-E01703F7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3F62"/>
                </a:solidFill>
              </a:defRPr>
            </a:pPr>
            <a:r>
              <a:rPr sz="1875" b="1">
                <a:solidFill>
                  <a:srgbClr val="243F62"/>
                </a:solidFill>
              </a:rPr>
              <a:t>Expected benefits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5D412E-C3F2-4AD6-BFF4-C8CEA721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82E81-94A8-49A7-A7FE-86D2E98B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6700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Shorter perceived and actual wait times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88F67-CDCA-4777-9815-969117BD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19DD9-48BE-487E-9059-CAFCA95A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21945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Less congestion and infection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E5CD5-6109-416F-A793-F1D0EDD6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25CCB-A20F-41C6-B907-6DF953F8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77190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Better use of clinical staff and rooms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8B90A-C250-46BC-AFC7-A2C9580C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8071C-9982-4A53-BA40-216DFC1F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324350"/>
            <a:ext cx="3962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More transparent patient communication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FD8B6-19A0-494D-95A8-78B60478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Future enhancements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2EA00-8812-440E-9407-6F2AF9DC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04AA1-A108-44FA-A9B5-1E3103E1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670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EHR integration and QR check-in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805EA-18FC-431A-B743-2CA0EA3D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8F47E-684D-4475-90F1-2582785A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Indoor navigation and multilingual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097BF-F6C5-42C3-9650-AD892878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3182FD-3D74-451B-870C-F2011F7C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7190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Privacy-governed CCTV crowd counting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6C81F-B4DE-48B9-9E0E-92E1E741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23434"/>
                </a:solidFill>
              </a:defRPr>
            </a:pPr>
            <a:r>
              <a:rPr sz="1650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D36145-1047-4E0B-A9EA-C79AF9C2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3486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1717"/>
                </a:solidFill>
              </a:defRPr>
            </a:pPr>
            <a:r>
              <a:rPr sz="1425" b="0">
                <a:solidFill>
                  <a:srgbClr val="171717"/>
                </a:solidFill>
              </a:rPr>
              <a:t>Predictive staffing and teleconsultation options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61EBA7-8C8D-4F0B-A3EC-D50726218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9050">
            <a:solidFill>
              <a:schemeClr val="accent2">
                <a:lumMod val="50000"/>
              </a:schemeClr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ACB478-6ECF-4D79-BD99-FB4A06E750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4443" y="1086416"/>
            <a:ext cx="11733291" cy="56910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/>
              <a:t/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6/3/2026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rPr>
                <a:latin typeface="Times New Roman"/>
                <a:ea typeface="Times New Roman"/>
                <a:cs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69BE5D-A48A-4D83-93AD-A637AE5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4" y="1883801"/>
            <a:ext cx="11374314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</a:defRPr>
            </a:defPPr>
          </a:lstStyle>
          <a:p xmlns:a="http://schemas.openxmlformats.org/drawingml/2006/main">
            <a:pPr marL="648000" lvl="2" indent="-216000" algn="l">
              <a:buClr>
                <a:srgbClr val="000000"/>
              </a:buClr>
              <a:buSzPct val="45000"/>
              <a:buFont typeface="Wingdings"/>
              <a:buChar char=""/>
              <a:defRPr sz="2100" b="1">
                <a:solidFill>
                  <a:srgbClr val="000000"/>
                </a:solidFill>
              </a:defRPr>
            </a:pPr>
            <a:r>
              <a:rPr sz="2100" b="1" spc="-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  <a:endParaRPr sz="2400" spc="-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F3414-8194-4262-BCA5-CD60218D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3434"/>
          </a:solidFill>
          <a:ln xmlns:a="http://schemas.openxmlformats.org/drawingml/2006/main" w="0">
            <a:solidFill>
              <a:srgbClr val="A234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480FF-C511-495F-9174-179E8A3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001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43F62"/>
                </a:solidFill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43F62"/>
                </a:solidFill>
              </a:defRPr>
            </a:pPr>
            <a:r>
              <a:rPr sz="2550" b="1">
                <a:solidFill>
                  <a:srgbClr val="243F62"/>
                </a:solidFill>
              </a:rPr>
              <a:t>Conclusion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7345C-D9E6-473B-9287-43D8739E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24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23434"/>
                </a:solidFill>
              </a:defRPr>
            </a:pPr>
            <a:r>
              <a:rPr sz="1275" b="1">
                <a:solidFill>
                  <a:srgbClr val="A23434"/>
                </a:solidFill>
              </a:rPr>
              <a:t>A practical mini-project scope for smart healthcare flow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45AD3-E628-4D46-8A19-61053EA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5"/>
          </a:solidFill>
          <a:ln xmlns:a="http://schemas.openxmlformats.org/drawingml/2006/main" w="0">
            <a:solidFill>
              <a:srgbClr val="D8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4DEB3-7CAF-4781-97DD-CA06318C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C9832-C0CD-442F-AC12-B0A64806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907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MediFlow replaces unmanaged physical waiting with virtual tokens, priority rules, and live updates.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1035F-448A-4CE4-A35B-28F51276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384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A1426-4A3A-4919-AB9D-3ACE574D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384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Machine-learning estimates and crowd-risk alerts help hospitals act before congestion becomes critical.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6D60E-DBFD-4AD6-8359-BF4D5AA3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86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C393A-F5F6-4E81-BE19-FC20484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4861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The demonstrable core includes registration, token generation, priority queues, wait prediction, dashboard monitoring, and notifications.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F500B1-AF3A-464D-9172-896507FA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338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23434"/>
                </a:solidFill>
              </a:defRPr>
            </a:pPr>
            <a:r>
              <a:rPr sz="1875" b="1">
                <a:solidFill>
                  <a:srgbClr val="A23434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4918C-63EA-4274-9E87-FF3F89CA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33850"/>
            <a:ext cx="901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The design can scale into a broader healthcare operations platform as data and integrations mature.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05B86-645E-40DB-A897-65915C1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863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400" b="1">
                <a:solidFill>
                  <a:srgbClr val="A23434"/>
                </a:solidFill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A23434"/>
                </a:solidFill>
              </a:defRPr>
            </a:pPr>
            <a:r>
              <a:rPr sz="2400" b="1">
                <a:solidFill>
                  <a:srgbClr val="A23434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167808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2026-10-10T14:03:26.8930000Z</dcterms:created>
  <dcterms:modified xsi:type="dcterms:W3CDTF">2026-10-10T14:03:26.8930000Z</dcterms:modified>
</coreProperties>
</file>