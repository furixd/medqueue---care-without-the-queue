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0a812e6304046" /><Relationship Type="http://schemas.openxmlformats.org/officeDocument/2006/relationships/extended-properties" Target="/docProps/app.xml" Id="R141513e112364b5e" /><Relationship Type="http://schemas.openxmlformats.org/officeDocument/2006/relationships/officeDocument" Target="/ppt/presentation.xml" Id="R494813730972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284ffe918940a5"/>
  </p:sldMasterIdLst>
  <p:notesMasterIdLst>
    <p:notesMasterId xmlns:r="http://schemas.openxmlformats.org/officeDocument/2006/relationships" r:id="R5167c15ca3444636"/>
  </p:notesMasterIdLst>
  <p:sldIdLst>
    <p:sldId xmlns:r="http://schemas.openxmlformats.org/officeDocument/2006/relationships" id="256" r:id="R8487d5c6a2c44ebe"/>
    <p:sldId xmlns:r="http://schemas.openxmlformats.org/officeDocument/2006/relationships" id="257" r:id="R2118b30cd3304535"/>
    <p:sldId xmlns:r="http://schemas.openxmlformats.org/officeDocument/2006/relationships" id="258" r:id="Rfc0c1affc0d84a69"/>
    <p:sldId xmlns:r="http://schemas.openxmlformats.org/officeDocument/2006/relationships" id="259" r:id="R05c31639b39a407e"/>
    <p:sldId xmlns:r="http://schemas.openxmlformats.org/officeDocument/2006/relationships" id="260" r:id="R87139d05931b4ba1"/>
    <p:sldId xmlns:r="http://schemas.openxmlformats.org/officeDocument/2006/relationships" id="261" r:id="Re91ddd3e8bab4df9"/>
    <p:sldId xmlns:r="http://schemas.openxmlformats.org/officeDocument/2006/relationships" id="262" r:id="Rc8ec7e2508644a73"/>
    <p:sldId xmlns:r="http://schemas.openxmlformats.org/officeDocument/2006/relationships" id="263" r:id="Rbdead429c64b4656"/>
    <p:sldId xmlns:r="http://schemas.openxmlformats.org/officeDocument/2006/relationships" id="264" r:id="R061aac19d602461d"/>
    <p:sldId xmlns:r="http://schemas.openxmlformats.org/officeDocument/2006/relationships" id="265" r:id="Rabfebf085ce34b86"/>
    <p:sldId xmlns:r="http://schemas.openxmlformats.org/officeDocument/2006/relationships" id="266" r:id="R94a40a2b25614515"/>
    <p:sldId xmlns:r="http://schemas.openxmlformats.org/officeDocument/2006/relationships" id="267" r:id="R0c0fcfe993704c78"/>
    <p:sldId xmlns:r="http://schemas.openxmlformats.org/officeDocument/2006/relationships" id="268" r:id="R5b798a1be60c4f7e"/>
    <p:sldId xmlns:r="http://schemas.openxmlformats.org/officeDocument/2006/relationships" id="269" r:id="R3b2909a80c914df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a6981ceef842c2" /><Relationship Type="http://schemas.openxmlformats.org/officeDocument/2006/relationships/slideMaster" Target="/ppt/slideMasters/slideMaster1.xml" Id="R07284ffe918940a5" /><Relationship Type="http://schemas.openxmlformats.org/officeDocument/2006/relationships/notesMaster" Target="/ppt/notesMasters/notesMaster1.xml" Id="R5167c15ca3444636" /><Relationship Type="http://schemas.openxmlformats.org/officeDocument/2006/relationships/presProps" Target="/ppt/presProps.xml" Id="R96d3adf89e3d42ac" /><Relationship Type="http://schemas.openxmlformats.org/officeDocument/2006/relationships/viewProps" Target="/ppt/viewProps.xml" Id="Rac20f368ffee40eb" /><Relationship Type="http://schemas.openxmlformats.org/officeDocument/2006/relationships/tableStyles" Target="/ppt/tableStyles.xml" Id="Rc7fa341aa618492f" /><Relationship Type="http://schemas.openxmlformats.org/officeDocument/2006/relationships/slide" Target="/ppt/slides/slide1.xml" Id="R8487d5c6a2c44ebe" /><Relationship Type="http://schemas.openxmlformats.org/officeDocument/2006/relationships/slide" Target="/ppt/slides/slide2.xml" Id="R2118b30cd3304535" /><Relationship Type="http://schemas.openxmlformats.org/officeDocument/2006/relationships/slide" Target="/ppt/slides/slide3.xml" Id="Rfc0c1affc0d84a69" /><Relationship Type="http://schemas.openxmlformats.org/officeDocument/2006/relationships/slide" Target="/ppt/slides/slide4.xml" Id="R05c31639b39a407e" /><Relationship Type="http://schemas.openxmlformats.org/officeDocument/2006/relationships/slide" Target="/ppt/slides/slide5.xml" Id="R87139d05931b4ba1" /><Relationship Type="http://schemas.openxmlformats.org/officeDocument/2006/relationships/slide" Target="/ppt/slides/slide6.xml" Id="Re91ddd3e8bab4df9" /><Relationship Type="http://schemas.openxmlformats.org/officeDocument/2006/relationships/slide" Target="/ppt/slides/slide7.xml" Id="Rc8ec7e2508644a73" /><Relationship Type="http://schemas.openxmlformats.org/officeDocument/2006/relationships/slide" Target="/ppt/slides/slide8.xml" Id="Rbdead429c64b4656" /><Relationship Type="http://schemas.openxmlformats.org/officeDocument/2006/relationships/slide" Target="/ppt/slides/slide9.xml" Id="R061aac19d602461d" /><Relationship Type="http://schemas.openxmlformats.org/officeDocument/2006/relationships/slide" Target="/ppt/slides/slide10.xml" Id="Rabfebf085ce34b86" /><Relationship Type="http://schemas.openxmlformats.org/officeDocument/2006/relationships/slide" Target="/ppt/slides/slide11.xml" Id="R94a40a2b25614515" /><Relationship Type="http://schemas.openxmlformats.org/officeDocument/2006/relationships/slide" Target="/ppt/slides/slide12.xml" Id="R0c0fcfe993704c78" /><Relationship Type="http://schemas.openxmlformats.org/officeDocument/2006/relationships/slide" Target="/ppt/slides/slide13.xml" Id="R5b798a1be60c4f7e" /><Relationship Type="http://schemas.openxmlformats.org/officeDocument/2006/relationships/slide" Target="/ppt/slides/slide14.xml" Id="R3b2909a80c914d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80edbc21c0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1982bd15974a25" /><Relationship Type="http://schemas.openxmlformats.org/officeDocument/2006/relationships/notesMaster" Target="/ppt/notesMasters/notesMaster1.xml" Id="Rdbf53e7e856b40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0e6c983efc4aff" /><Relationship Type="http://schemas.openxmlformats.org/officeDocument/2006/relationships/notesMaster" Target="/ppt/notesMasters/notesMaster1.xml" Id="R2f1760c4db644d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deef09752f49bd" /><Relationship Type="http://schemas.openxmlformats.org/officeDocument/2006/relationships/notesMaster" Target="/ppt/notesMasters/notesMaster1.xml" Id="Ra0ad242bd0ab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d041f7a1db4230" /><Relationship Type="http://schemas.openxmlformats.org/officeDocument/2006/relationships/notesMaster" Target="/ppt/notesMasters/notesMaster1.xml" Id="Rc51ff6238d42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ed1ace8a744ec1" /><Relationship Type="http://schemas.openxmlformats.org/officeDocument/2006/relationships/notesMaster" Target="/ppt/notesMasters/notesMaster1.xml" Id="Re5f019a9b5b642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d8ff2e582046ad" /><Relationship Type="http://schemas.openxmlformats.org/officeDocument/2006/relationships/notesMaster" Target="/ppt/notesMasters/notesMaster1.xml" Id="R98f801ad165f4d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929dee8d194c32" /><Relationship Type="http://schemas.openxmlformats.org/officeDocument/2006/relationships/notesMaster" Target="/ppt/notesMasters/notesMaster1.xml" Id="R92e1a1079ede49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122a962d614dc0" /><Relationship Type="http://schemas.openxmlformats.org/officeDocument/2006/relationships/notesMaster" Target="/ppt/notesMasters/notesMaster1.xml" Id="R2849aa6b577447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7c12de589f4833" /><Relationship Type="http://schemas.openxmlformats.org/officeDocument/2006/relationships/notesMaster" Target="/ppt/notesMasters/notesMaster1.xml" Id="R97f92a38637549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0d577f71a342a4" /><Relationship Type="http://schemas.openxmlformats.org/officeDocument/2006/relationships/notesMaster" Target="/ppt/notesMasters/notesMaster1.xml" Id="Rf0442f40a7a444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8abf3104df40f7" /><Relationship Type="http://schemas.openxmlformats.org/officeDocument/2006/relationships/notesMaster" Target="/ppt/notesMasters/notesMaster1.xml" Id="R25145e44b3874e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e66a1cc40b4f76" /><Relationship Type="http://schemas.openxmlformats.org/officeDocument/2006/relationships/notesMaster" Target="/ppt/notesMasters/notesMaster1.xml" Id="R8b492cdf8be548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26ca6149f0498c" /><Relationship Type="http://schemas.openxmlformats.org/officeDocument/2006/relationships/notesMaster" Target="/ppt/notesMasters/notesMaster1.xml" Id="R2996bc9571f14b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a39eb3167341a3" /><Relationship Type="http://schemas.openxmlformats.org/officeDocument/2006/relationships/notesMaster" Target="/ppt/notesMasters/notesMaster1.xml" Id="R95e98b1667fa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bdad6248f45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bf47ad77f4f62" /><Relationship Type="http://schemas.openxmlformats.org/officeDocument/2006/relationships/image" Target="/ppt/media/image.jpeg" Id="R182f4f70303345e8" /><Relationship Type="http://schemas.openxmlformats.org/officeDocument/2006/relationships/image" Target="/ppt/media/image.png" Id="R85d0d5d7cb3443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bfea326e143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2ce2aff2746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92e3a7f6644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ff8ced43946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e93d998d941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a6fed1f5742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91ed28cf449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ae31af27947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98eb13e9c46f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C3DE9A-EBB7-459D-B759-C8E3C5988C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6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53DE920-FE99-44C0-A212-955002FCB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99B5D6-8154-4C41-B334-EBF7CE0876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FE84FC-29E5-4374-A3C7-BA56D0B8F6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AC6FF1-26AD-4743-8574-4CAABF86C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ABF796-3284-43CA-98F0-D5C72B910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3867033" y="-2048688"/>
            <a:ext cx="7029567" cy="6697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78BD15B-4546-4447-BE4F-25686C5625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FB54AC-5F60-4C24-9103-98E2DD81B3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DE27FDD-267C-4FB0-845C-44B80B86BF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B1FF33-28BD-474D-B3FB-EF4F066831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  <p:pic>
        <p:nvPicPr>
          <p:cNvPr id="2052" name="Picture 4">
            <a:extLst xmlns:a="http://schemas.openxmlformats.org/drawingml/2006/main">
              <a:ext uri="{FF2B5EF4-FFF2-40B4-BE49-F238E27FC236}">
                <a16:creationId xmlns:a16="http://schemas.microsoft.com/office/drawing/2014/main" id="{43DA420C-2443-4591-B392-4E5BADB5D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f4f70303345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7646"/>
            <a:ext cx="1280593" cy="108645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7EA830EC-5859-4411-88E5-80381D4098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0d5d7cb344379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2103" y="41470"/>
            <a:ext cx="1280593" cy="12671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1BB787-85B1-44A4-A4D5-E10DECECA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57BC00-2820-4F10-8DAA-DE9396AB5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AEA124-894A-47A2-B4A4-097ECC25C7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527C3B-7116-409D-AB73-1F0E2BB7AD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18386F-3BDF-4B43-806F-75F3D1A8A3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260E37-6EEB-475B-A6C9-92BCAE7794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7EC858-24DC-44F8-90E3-F33D8D9FAF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D1EB542-C341-433A-8FC5-274CCA248C4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A18C2A-C8AB-464D-8799-5DE98AE44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BF38D5-2955-4335-AC0D-8B6CB39509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7FFB3C7-CBC0-4538-AE02-B1E9B16575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68BCE1-C3BC-414E-BB04-5FE08647E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126BA7-AFAD-48E8-81A9-64F995D12A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C4BAA6-1F4B-428C-BC0A-CEE33DD2FA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C3BDD17-85A3-4EF9-A585-3EEE253D0E5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227B590-9FBD-43DB-B611-7704F710B2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3DA65AA-9384-440C-8094-8FE7822274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180B79A-E8E3-4B14-8683-0A9E70CC61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C4CA97F-52C0-4251-9BC0-3DCBD8BD0C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1B3C6F-ED7F-4D0B-BF40-263EDB445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F1FEAF5-CA9E-4C44-9AFA-EC9BF8CD9A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D261EBE-E483-4FFB-A47D-0E33B1DF60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F1BE824-DD9B-45FF-8E95-7DE7D2A2D2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87CFC0B-55B2-465A-A7E8-6A26C2C3E6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633D8CA-485E-4BD7-83D1-589AEFA9D5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CCD79B1-BD0B-4081-A8C0-2D6020D8A5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D692EB-81E6-4342-A278-A75ADC85C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9943D3-68B1-4E3D-8DED-052E48A298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098FF5C-C456-44D4-BC4E-8CC4698CFF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31192D-B7D1-4D6D-922D-8A546F08DE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F82E658-FCA5-4EA9-AFC2-DD636F7E5F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32737C-365E-4D8C-B029-E4A6696B5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9B3F29-E0F7-41BE-AFDF-DF0AE8929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5FD1FDD-D954-462A-BA42-8541D3F1E54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975C063-FFBA-4E4B-8719-2E4D969F6A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797B55-656A-4BAD-9520-7ABBFD7EFD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0DDFFCC-F052-4FAC-93F4-FE722D043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38E5D49-8D2D-49A7-9504-10093A2DDE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1A4CBC-3153-44CD-8E1E-FD60F2F37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C643C5-FCD2-4AA1-80AD-E78C2CD696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E73D76-1F65-4046-8B3A-65A3CF3191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8B301E-CB73-44DF-953E-7F8F753E2A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CAC6F6-513A-4491-A4C5-9E874F207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00526FD-EE7D-4BAF-AD75-64236E72C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9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CDCB79-DC8A-496A-B5F8-ECBF60CDF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9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698092-D6C0-4715-8A38-3A5950DA54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FD52A8-4334-4119-A0AF-44660365EA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576E94-09C1-4A11-B115-5B6880B293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29c2493484b9c" /><Relationship Type="http://schemas.openxmlformats.org/officeDocument/2006/relationships/slideLayout" Target="/ppt/slideLayouts/slideLayout1.xml" Id="Ref0a53b572d840b8" /><Relationship Type="http://schemas.openxmlformats.org/officeDocument/2006/relationships/slideLayout" Target="/ppt/slideLayouts/slideLayout2.xml" Id="R807fdc93bb364930" /><Relationship Type="http://schemas.openxmlformats.org/officeDocument/2006/relationships/slideLayout" Target="/ppt/slideLayouts/slideLayout3.xml" Id="Rf9ec655b946e4ba9" /><Relationship Type="http://schemas.openxmlformats.org/officeDocument/2006/relationships/slideLayout" Target="/ppt/slideLayouts/slideLayout4.xml" Id="Rcc84b3cc2108428c" /><Relationship Type="http://schemas.openxmlformats.org/officeDocument/2006/relationships/slideLayout" Target="/ppt/slideLayouts/slideLayout5.xml" Id="Rb931ed1b706344c9" /><Relationship Type="http://schemas.openxmlformats.org/officeDocument/2006/relationships/slideLayout" Target="/ppt/slideLayouts/slideLayout6.xml" Id="Rd8b19851aba04222" /><Relationship Type="http://schemas.openxmlformats.org/officeDocument/2006/relationships/slideLayout" Target="/ppt/slideLayouts/slideLayout7.xml" Id="R0f1a6b038f7b4bc1" /><Relationship Type="http://schemas.openxmlformats.org/officeDocument/2006/relationships/slideLayout" Target="/ppt/slideLayouts/slideLayout8.xml" Id="Rf9494b84d09b4c39" /><Relationship Type="http://schemas.openxmlformats.org/officeDocument/2006/relationships/slideLayout" Target="/ppt/slideLayouts/slideLayout9.xml" Id="R3627d0e30ea441fd" /><Relationship Type="http://schemas.openxmlformats.org/officeDocument/2006/relationships/slideLayout" Target="/ppt/slideLayouts/slideLayout10.xml" Id="R38fb83c3a17840d3" /><Relationship Type="http://schemas.openxmlformats.org/officeDocument/2006/relationships/slideLayout" Target="/ppt/slideLayouts/slideLayout11.xml" Id="Raebbc68b995e47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3989D9C-FAEC-43C5-B237-AE1A23D30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C98C28-8453-4C34-A841-083255031E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C71E2E-AEAA-417F-A3E4-B4263E33C89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267253-FC5A-4151-BB8E-E860AFECF4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6F14E8-DFA9-4BE8-A435-FCB2911D730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0a53b572d840b8"/>
    <p:sldLayoutId xmlns:r="http://schemas.openxmlformats.org/officeDocument/2006/relationships" id="2147483650" r:id="R807fdc93bb364930"/>
    <p:sldLayoutId xmlns:r="http://schemas.openxmlformats.org/officeDocument/2006/relationships" id="2147483651" r:id="Rf9ec655b946e4ba9"/>
    <p:sldLayoutId xmlns:r="http://schemas.openxmlformats.org/officeDocument/2006/relationships" id="2147483652" r:id="Rcc84b3cc2108428c"/>
    <p:sldLayoutId xmlns:r="http://schemas.openxmlformats.org/officeDocument/2006/relationships" id="2147483653" r:id="Rb931ed1b706344c9"/>
    <p:sldLayoutId xmlns:r="http://schemas.openxmlformats.org/officeDocument/2006/relationships" id="2147483654" r:id="Rd8b19851aba04222"/>
    <p:sldLayoutId xmlns:r="http://schemas.openxmlformats.org/officeDocument/2006/relationships" id="2147483655" r:id="R0f1a6b038f7b4bc1"/>
    <p:sldLayoutId xmlns:r="http://schemas.openxmlformats.org/officeDocument/2006/relationships" id="2147483656" r:id="Rf9494b84d09b4c39"/>
    <p:sldLayoutId xmlns:r="http://schemas.openxmlformats.org/officeDocument/2006/relationships" id="2147483657" r:id="R3627d0e30ea441fd"/>
    <p:sldLayoutId xmlns:r="http://schemas.openxmlformats.org/officeDocument/2006/relationships" id="2147483658" r:id="R38fb83c3a17840d3"/>
    <p:sldLayoutId xmlns:r="http://schemas.openxmlformats.org/officeDocument/2006/relationships" id="2147483659" r:id="Raebbc68b995e471c"/>
  </p:sldLayoutIdLst>
  <p:hf hdr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da460c2fa44fc" /><Relationship Type="http://schemas.openxmlformats.org/officeDocument/2006/relationships/image" Target="/ppt/media/image2.png" Id="Re183398e60f84b51" /><Relationship Type="http://schemas.openxmlformats.org/officeDocument/2006/relationships/image" Target="/ppt/media/image.png" Id="R12fdc3a7ef7b4059" /><Relationship Type="http://schemas.openxmlformats.org/officeDocument/2006/relationships/notesSlide" Target="/ppt/notesSlides/notesSlide1.xml" Id="R27edaf84f2f9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37f09d7eb457b" /><Relationship Type="http://schemas.openxmlformats.org/officeDocument/2006/relationships/notesSlide" Target="/ppt/notesSlides/notesSlide2.xml" Id="R2a2fb3a7a858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cdc9e482234d2e" /><Relationship Type="http://schemas.openxmlformats.org/officeDocument/2006/relationships/notesSlide" Target="/ppt/notesSlides/notesSlide3.xml" Id="Ra2670f3c016b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4bd2d05e264654" /><Relationship Type="http://schemas.openxmlformats.org/officeDocument/2006/relationships/notesSlide" Target="/ppt/notesSlides/notesSlide4.xml" Id="R7762be73c77943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64044fcd8f4d1d" /><Relationship Type="http://schemas.openxmlformats.org/officeDocument/2006/relationships/notesSlide" Target="/ppt/notesSlides/notesSlide5.xml" Id="R1fe10366e532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47b52aaa804b11" /><Relationship Type="http://schemas.openxmlformats.org/officeDocument/2006/relationships/notesSlide" Target="/ppt/notesSlides/notesSlide6.xml" Id="Rca900467464744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84c73292c245eb" /><Relationship Type="http://schemas.openxmlformats.org/officeDocument/2006/relationships/notesSlide" Target="/ppt/notesSlides/notesSlide7.xml" Id="R9b495f132c96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140016f4f14ec0" /><Relationship Type="http://schemas.openxmlformats.org/officeDocument/2006/relationships/notesSlide" Target="/ppt/notesSlides/notesSlide8.xml" Id="Rfdf6a333c7f34c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126d3197843c5" /><Relationship Type="http://schemas.openxmlformats.org/officeDocument/2006/relationships/notesSlide" Target="/ppt/notesSlides/notesSlide9.xml" Id="R75c41e9b1b0647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797ce246d4b75" /><Relationship Type="http://schemas.openxmlformats.org/officeDocument/2006/relationships/notesSlide" Target="/ppt/notesSlides/notesSlide10.xml" Id="R651e3e5ff35b44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0fcbb5c4f4f01" /><Relationship Type="http://schemas.openxmlformats.org/officeDocument/2006/relationships/notesSlide" Target="/ppt/notesSlides/notesSlide11.xml" Id="R0e475cc933044e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8634e63e748da" /><Relationship Type="http://schemas.openxmlformats.org/officeDocument/2006/relationships/notesSlide" Target="/ppt/notesSlides/notesSlide12.xml" Id="R5390e5bb41824d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9f7bd56b2a4c19" /><Relationship Type="http://schemas.openxmlformats.org/officeDocument/2006/relationships/notesSlide" Target="/ppt/notesSlides/notesSlide13.xml" Id="R67706b61970741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85a07f671a4a33" /><Relationship Type="http://schemas.openxmlformats.org/officeDocument/2006/relationships/notesSlide" Target="/ppt/notesSlides/notesSlide14.xml" Id="Raac8b506a5ad4f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62060F-8CA3-4D56-8802-BBD7525BF9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16927" y="1698208"/>
            <a:ext cx="8887521" cy="880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3200" b="1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7592E67-AAD8-4D88-AB8D-50385EBE6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93469" y="3732357"/>
            <a:ext cx="6190488" cy="2971800"/>
          </a:xfrm>
        </p:spPr>
        <p:txBody>
          <a:bodyPr xmlns:a="http://schemas.openxmlformats.org/drawingml/2006/main">
            <a:normAutofit fontScale="78891" lnSpcReduction="20000"/>
          </a:bodyPr>
          <a:lstStyle xmlns:a="http://schemas.openxmlformats.org/drawingml/2006/main">
            <a:defPPr algn="ctr">
              <a:defRPr sz="1350" b="1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MediFlow: An Intelligent Virtual Crowd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908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Management Platform</a:t>
            </a:r>
            <a:endParaRPr sz="48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776"/>
              </a:spcBef>
              <a:buClr>
                <a:schemeClr val="dk2"/>
              </a:buClr>
              <a:buSzPct val="100000"/>
              <a:buNone/>
            </a:pPr>
            <a:r>
              <a:rPr sz="3700" b="1">
                <a:latin typeface="Times New Roman"/>
                <a:ea typeface="Times New Roman"/>
                <a:cs typeface="Times New Roman"/>
              </a:rPr>
              <a:t/>
            </a:r>
            <a:endParaRPr sz="37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Submitted by: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Student Name(s) (USN)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820"/>
              </a:spcBef>
              <a:buClr>
                <a:schemeClr val="dk2"/>
              </a:buClr>
              <a:buSzPct val="100000"/>
              <a:buNone/>
            </a:pPr>
            <a:r>
              <a:rPr sz="3400" b="1">
                <a:latin typeface="Times New Roman"/>
                <a:ea typeface="Times New Roman"/>
                <a:cs typeface="Times New Roman"/>
              </a:rPr>
              <a:t/>
            </a:r>
            <a:endParaRPr sz="3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UNDER THE GUIDANCE OF: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Faculty Guide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Department of CSE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BMSIT&amp;M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2026–27</a:t>
            </a:r>
            <a:endParaRPr sz="2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8" name="Picture 4">
            <a:extLst xmlns:a="http://schemas.openxmlformats.org/drawingml/2006/main">
              <a:ext uri="{FF2B5EF4-FFF2-40B4-BE49-F238E27FC236}">
                <a16:creationId xmlns:a16="http://schemas.microsoft.com/office/drawing/2014/main" id="{B93ACA4A-7F5D-417D-BB4B-1F807E7A2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3398e60f84b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010" y="-16064"/>
            <a:ext cx="9012936" cy="2014174"/>
          </a:xfrm>
          <a:prstGeom xmlns:a="http://schemas.openxmlformats.org/drawingml/2006/main" prst="rect">
            <a:avLst/>
          </a:prstGeom>
        </p:spPr>
      </p:pic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45F9DE8D-BEDA-78E6-1063-A5D3E74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546" y="2716554"/>
            <a:ext cx="6629400" cy="88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70000" lnSpcReduction="20000"/>
          </a:bodyPr>
          <a:lstStyle xmlns:a="http://schemas.openxmlformats.org/drawingml/2006/main">
            <a:lvl1pPr algn="ctr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Mini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Project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- Review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1 </a:t>
            </a: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V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Sem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(BCS506)</a:t>
            </a:r>
          </a:p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2A229EE-D30F-45D2-9320-5FB8393F5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dc3a7ef7b4059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94471" y="118194"/>
            <a:ext cx="1596807" cy="15800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655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>CONTENTS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3611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and Proposed System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Major Modules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Hybrid Queue Optimization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Workflow and Architecture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Technology Stack and Database Design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Use Case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Benefits and Future Enhancements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8D046-11D5-40AC-A46A-039D36D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2A42F-7E89-4436-93E6-D8211487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C7A43-EF17-4B98-9910-CDE5580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queues reduce unnecessary waiting inside care facilities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36BAA-A41F-4109-9A3B-CED1E67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CA54E-1A7E-4D94-A909-85B33174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44C86-58F8-4C88-BA1E-47E80079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Hospitals and diagnostic centers often face congestion at registration, consultation, labs, pharmacy, and billing.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F6DCE-612A-4ADE-AB96-7C9E4E10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A0614-A68E-4495-9677-A37CB6B8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Long physical queues delay care, strain staff, and increase infection exposure for vulnerable patients.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3C307-DC03-40D1-9721-5B398CD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8E7A8-5C8E-4953-BCDE-AC66FF6B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gives patients a digital token, estimated waiting time, and arrival recommendation.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ABCEC-85FF-46BE-924A-E0031D85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2873E-E77D-4B01-A2D0-4F122F94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 live dashboard helps staff see queue growth, service delays, capacity, and crowding risk.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4F414-E200-4801-B786-90FF1140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9688D-9E9A-4345-8F9C-83A5143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Problem 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C922B-A66B-4015-863D-75CC1CB9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Manual and first-come-first-served queues cannot adapt to clinical reality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2F5AB-D6F2-475F-AA22-8BE5537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20DD1-7B55-47D5-A894-C4ACFE1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A8FEA-5153-4903-8A55-866879BC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Urgency, age risk, appointments, walk-ins, and emergency cases require different treatment.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5B676-265F-4260-AE42-CE07E25D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33DDB-AE64-4581-B9CF-645550AB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Doctor delays and variable consultation times make static appointment registers unreliable.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B3380-3FCC-48CB-A740-70481ADF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20FE3-D402-4952-8D29-B2E011BF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Patients move through dependent stages such as registration, consultation, lab testing, and pharmacy.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68EBE-28A6-45F2-BC56-535E85E1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85B15-A257-4C1B-8412-3857E44A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Administrators lack early warning when peak-hour demand exceeds seating or service capacity.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5D84D-40A7-46E4-B312-BAEFEDFF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E40C1-8170-400D-B1DE-0FD98BC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Project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79AEE-B423-429E-8045-93501FF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Patient-focused flow management with operational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29EF6-E5A3-4D65-9403-D77EACF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D79D8-333A-4AE5-9A3E-4A684E7E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B824C-7185-4BA5-AD2D-D7216E5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Reduce crowding in waiting areas through virtual tokens and suggested arrival times.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720B3-0A87-468D-A686-231BED8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449B9-B1D5-4E04-875D-C75A24C5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432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Provide real-time queue position and estimated waiting-time ranges.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4D2BA-6E5B-4691-865C-83A62F93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956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52741-B5BA-496A-8453-778625D5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956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Prioritize emergency and high-risk patients while preventing excessive routine waits.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1D86F-2306-4710-9E75-CA7ECCE6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481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BC6F6-7563-47AC-8B95-2FA5DB8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481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Predict peak load and help staff allocate counters, rooms, doctors, and technicians.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437A6-3662-4199-987F-B6B681A3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2D60F-5FB2-4F94-8C7D-42BB066C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005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Maintain a digital movement record for each patient service stage.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1AA23-7546-49E0-A4AF-CFEBB98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03131-9A47-4747-8E77-6761DE41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Existing System and MediFlow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52364-51C5-4DC1-8B25-E94E33CA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From manual queue handling to adaptive patient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402D7-065E-4D48-A1E7-E8C96AD5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07727-6224-43BD-B45D-B7C7C01D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23434"/>
                </a:solidFill>
              </a:defRPr>
            </a:pPr>
            <a:r>
              <a:rPr sz="1950" b="1">
                <a:solidFill>
                  <a:srgbClr val="A23434"/>
                </a:solidFill>
              </a:rPr>
              <a:t>Existing approach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4DE64-9BF5-472D-BD2E-FFC60730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3F62"/>
                </a:solidFill>
              </a:defRPr>
            </a:pPr>
            <a:r>
              <a:rPr sz="1950" b="1">
                <a:solidFill>
                  <a:srgbClr val="243F62"/>
                </a:solidFill>
              </a:rPr>
              <a:t>MediFlow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5FAFF-271D-4FCC-8740-40F4E5C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4BBFA-B72B-4469-A4F5-51B50E6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Paper slips or isolated registers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81C8B-F5B8-49E4-82E8-B0511D69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CA44D-CC95-4FE8-BFBD-DC84213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First-come-first-served 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32F72-44FE-4A45-BB61-699880D8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8A601-FC54-4BB6-A520-FE71C20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Manual delay 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9D26E-26C9-4632-B986-5CCE0E0E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D38C3-0A91-4AC0-B4ED-1C810AF4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Limited visibility of queue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58DF4-A4B5-4083-8667-6B0FA682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193A0-B2A1-4C04-81E1-F275D585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Digital tokens from app, kiosk, web, or reception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D0310-D0CB-45A2-9D16-52A239BA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706B5-9062-4BEE-8E79-784D26C8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Weighted priority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31A82-E90F-48DE-A125-AE451A13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FFC52-CDBC-4D37-A3A1-D11A670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19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Live alerts and revised arrival times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FFDBE-DB07-4455-8764-935AD7A9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13528-DB14-42F5-A6A9-BB65B256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101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Dashboard with capacity and crowd-risk signals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86E807-20DA-445A-AF61-7E1ECE9C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0" cy="26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5C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BD670-07BB-465E-A598-02448786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16B14-CC2C-4112-8A37-AD95CE61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Major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52534-01D7-4C43-BAE7-D6877F0E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connected service layer for patients and hospital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0C36E-14A3-45B5-9210-5D18D235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CD070-B757-44A0-A924-3FC58247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A141A-FF66-4A66-8F82-C244E98A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Patient registration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0A834-720C-4B71-A0DE-22AC992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Appointments, walk-in tokens, referrals, and queue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12855-77A9-46C1-B80F-98653AF6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292D7-777A-4D71-A3F1-515CFDA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Smart virtual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F9352-B7D6-4289-AED6-D92F31BD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241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Token display, patients ahead, ETA, and arrival prompts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41623-5844-43EC-A871-3227C260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24EB5-FCC3-4718-BA38-EB6E3377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Priority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40BA8-CCC1-4C50-A4DC-3E655941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Urgency, age risk, appointment status, and waiting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2A1C8-2711-46A5-9575-1156E5C1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F892B-4628-4FC2-BFE3-79498AC4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Prediction and alerts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4E0E7-B65E-434E-BECB-844BE5F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95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Waiting-time estimation and crowd-risk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19569-464D-449A-8FCA-1B159B1F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FE067-91AC-4AD8-954B-0BFCF76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Admin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5B8E13-F5B6-43BF-A5A1-B599A0B9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Queues, staff status, capacity, analytics, and action alerts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398D3-14A9-4509-9239-1F93926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4BE01-35BC-41D7-9E4E-6B10F8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Hybrid Queue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23B0E-4F5E-4364-AF37-BE975B18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Priority-based allocation plus machine-learning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9312C-15E0-4F86-856E-9FDB351A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724B8-454E-4C22-A243-522D30D4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Priority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99B93-33E6-4584-92C0-7D3E21E9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442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(Urgency × Wu) + (Age Risk × Wa) +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(Appointment Status × Ws) + (Waiting Time × Ww)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E4CF2-5466-40BB-9AB0-73DE5AD6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Waiting-time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6AB41-00C4-4CA2-BDEE-9D9A6C6C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Inputs: queue length, doctor, service type,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staff availability, delays, and historical durations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Output: an estimated range, such as 18–25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AF961-808D-40CC-8DFE-AA76F760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Crowd-risk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BF7A0-1F77-4867-889A-3ABFA0E5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96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(Current Patients + Predicted Arrivals)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÷ Available Service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86FB9-B599-499A-AB08-A599D437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Risk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D193B-DAF1-449A-B3F8-B1FE7201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Green  Low     Yellow  Moderate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Orange  High     Red  Critical overcrowding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32348-738E-4315-8ED3-FD929222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D2A90-64D3-460A-A25D-064F7194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System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13DCB-5272-41AD-B97C-B8594645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token issue through service completion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8A6FC-933F-49D1-BE40-0E867F66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F2941-80FD-431E-AA70-BB06F88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4EABA-C9DF-4708-9E38-9E278F7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C3E84-76B3-4A6A-9F56-26C2FE0E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Register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0052B-D32F-4E1A-A3F9-2A20A432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B1BEB-A32C-42A0-B24C-FBDE6B3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6B8AE-30D0-4D95-9729-FF4A6A9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4E1EF-8E44-4FF5-B6E6-4A47854E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Verify or create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walk-in entry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D6CB3-87F7-40FC-869C-5B1C520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4D08B-9BD4-47C0-B7EF-4358AA8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854EE-DA1B-4B4D-B32C-1DAF400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9B4FE-95BC-4159-B5B2-B6DBB348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Issue digital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319AC-91D7-423A-879A-8D359FA3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B9351-08BF-429A-8DC2-74A003B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24D87-8045-4145-9916-130CB8B9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ADAFF-1320-4215-B82E-C9D56CB7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Apply priority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B90E7-81DC-46D2-B0E7-FA5470D3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1B02D-69DA-49D6-BFAA-B8AEFA1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4DCE1-4A30-496B-AA14-CAD9657E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CB1E20-8140-41F7-9BAB-548B4A6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Predict wait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96D28-B425-4E65-8D06-C88A2D97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AE7F8-A606-4157-A5F3-505BBA17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280AA9-E52D-4E68-B053-FDF39ADF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8198DA-C375-4A0E-99D1-C9ACAA94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Notify and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call patient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00020B-A947-4DC6-B99E-4A310F19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ADE715-A3FF-4187-9DD1-AB83E337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5C9672-11B3-4637-894F-AD9FA7CA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54AD10-4A33-44C1-993C-9C562ADC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Complete or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move to next stage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2C20FD-737F-4867-8A2E-90C7D85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At every update, the dashboard recalculates wait estimates and checks crowd risk.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E8689-020B-4513-B2BD-CE7E274A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89C4A-BEF7-455B-8261-9838F305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Proposed System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BFC2E-0772-4C38-8BEE-4290113A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Real-time patient flow from entry points to operational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A9656-CD37-44A3-A25C-2E511D21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B2F9B-C2D0-4197-9DFC-FF01611A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D2F64-1D7D-4F72-9A30-B9827715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Entry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B1389-53F6-4E85-A9FF-007B77B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Mobile app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Hospital kiosk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Website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Reception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56AEE-E727-4519-BFE0-9CE6DD80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B9F77-0764-44AB-9F18-638321C2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DDBA9-A71F-4F75-A469-BA301C0D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43F62"/>
                </a:solidFill>
              </a:defRPr>
            </a:pPr>
            <a:r>
              <a:rPr sz="1650" b="1">
                <a:solidFill>
                  <a:srgbClr val="243F62"/>
                </a:solidFill>
              </a:rPr>
              <a:t>MediFlow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CEF2F-4E68-4B0A-A9CD-6F512C0E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Token service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Priority queue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ML prediction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Notification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FB133-F212-409F-A7CA-86344986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0AC57-737A-4DF0-B378-25CB1A21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17344-FA1E-4006-8FF9-426B5450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42CAF-F893-46D8-B30D-41289CB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Admin dashboard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Doctor and lab status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Capacity alerts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44926-09D1-4315-BF60-33B9687B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9B13F-7ECB-4569-A221-AC70D3BB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Technology Stack and Data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704DC-548D-4D1B-B6BF-D6B4B3F6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Suggested mini-project implementation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35061-D4BE-4026-8C45-9A923AB1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85348-A021-4E5F-94D6-A86C9A2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Technology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4E053-7847-4106-87BA-77593793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5EE08-5CD7-4565-8629-D8A5C341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Frontend: React.js, HTML, CSS,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0A973-CA54-4093-B577-306D2ABD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5FCF0-799F-40EA-B514-D30A81E0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004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Mobile: Flutter or React Native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C73B5-2441-4037-9FE3-CE3E5E32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F2452-04CD-4446-A411-978AE43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338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Backend: Python Flask/Django or Node.js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A5D77-4901-4DC0-BAF1-8CB55B3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1B8DF-51A0-414E-AC53-66CCB2BB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672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Data and ML: MySQL/PostgreSQL, Python, Scikit-learn,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22CA7-A24A-41AC-A7FF-7F17E3D8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0140F-436F-4363-9056-FBCC467D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006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Real-time updates: Firebase, Socket.IO, or WebSockets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D1CC7-4905-4EEE-AC05-98F8F94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Core data entities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D1A0B-2DFE-474F-B6B9-8544FA2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3DAA7-73C9-4B7A-81B8-B871E9E3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Patients and appointments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5047F-CBB8-48CA-825A-EBD4E524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8E628-B868-47F3-AEAE-BB765EE4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Tokens and queue 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BDB371-9BC0-420D-960E-6D95606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09758-C574-44EC-AC95-95C2A523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Doctors and departments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FF9A4E-04B7-4923-B44D-A595CE19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EE10BE-55F9-45A5-8BAF-4C5DF94B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Crowd metrics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8B06A-FEB5-48AE-A69C-938D07D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8900A-74E7-4DC5-9E02-9088EDC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Sample Use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D3750-FDC7-40D3-B469-2E84F52B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Priya’s dermatology consultation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68220-B708-4F47-B291-9A10D143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D0597-3857-436E-94DC-273BE3B2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10:00 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5D621-240F-4E50-8A4E-7AB1867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F3446-6682-426A-AF8D-C9911D3C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Priya books a consultation and receives token D-27.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F86FF-2408-4518-A1E6-7F219C2F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81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Queue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34337-8305-4E4C-8B09-EF9E352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765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E81AC-B2AC-4EEB-A450-DFCAAB12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The system sees 18 active patients, a 12-minute delay, and a 9-minute average consultation.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1EE86-44FB-4D56-8E4A-C1762EC2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242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10:30 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9769B-B25E-4331-B036-66465B6B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ACE4F-207B-4AEE-9716-606B1215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MediFlow advises Priya to arrive at the dermatology waiting area.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E445D-FBA8-42F2-A3B6-F96CE84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672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10:25 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A73DE-AB96-49DB-B113-EC9FDA1E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B7E3A-DEFC-460C-8C42-B192B916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672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 alert reports that only two patients remain before her turn and directs her to Room 204.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5B2A7-F4B6-432E-838D-84FC522C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7B5C3-B47A-4DD4-9817-7649857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Expected Benefits and Future Enhancements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66234-B610-4DAD-B6C5-1BCAD48E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Near-term operational impact and expansion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9C01-1C45-4EB3-9203-EBABB6F0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1A791-ACA9-47F6-ABC4-B206077A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Expected benefits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095F2-732B-4A78-A466-3282EE1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9A51B-B701-479E-A84D-8FA8E34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Shorter perceived and actual wait times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01FD3-DD33-4686-8113-CAC47B43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331A8-D46F-4164-8119-C02B85E8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194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Less congestion and infection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011FD-0938-4D14-AB42-5DA35934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5FBFC-F240-4C66-A22B-4C168FA3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719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Better use of clinical staff and 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88057-E174-4BEB-A2F4-448F2067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4B11F-025B-4914-9E96-2E2F2E1B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243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More transparent patient communication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4A101-98E6-4B61-B938-A6C7868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Future enhancements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1FF30-8BEB-49C2-84FC-E909059D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69735-8E2E-4D5E-9E34-BE5A93C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670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EHR integration and QR check-in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C9B5E-CBD8-4AF9-B6E2-86394B35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DC81A-CFD7-4464-B030-7AB1287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Indoor navigation and multilingual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BAC4E-55B3-4249-9E87-84A38DB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99759-3BAE-4104-A9FD-356E2CED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Privacy-governed CCTV crowd counting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EBF54-3980-4B48-A33B-1EA2FEEF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BDEF08-9675-4C8A-9201-62F2A14D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Predictive staffing and teleconsultation options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DAED4-DF70-4A44-8B03-1C81376EE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BAF0E9-C100-4C39-AA9A-02FF645A58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388D505-1216-440F-A409-456545A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EB2CA-F8E7-4F91-A0CB-483D3EDE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7A55F-864E-4B1F-A275-D9565EDF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BA3CB-D076-4316-BAF0-79B0E431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practical mini-project scope for smart healthcare flow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48293-318C-4FF4-AC1B-0F4558F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D08E4-A0A7-48D2-A32E-81EB5ACE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04B52-A3D7-411E-BC86-7CF581F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replaces unmanaged physical waiting with virtual tokens, priority rules, and live updates.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934BB-00A6-42A6-8FFD-D0CB709E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E47F5-0524-4526-A8AB-7974669E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384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Machine-learning estimates and crowd-risk alerts help hospitals act before congestion becomes critical.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57449-08F9-4A68-806C-57ABD99E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86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8369A-519F-4E41-88DA-A7E48A59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861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demonstrable core includes registration, token generation, priority queues, wait prediction, dashboard monitoring, and notifications.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3A5B4-E041-4123-A444-D9DE591F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338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79884-C782-435D-89EC-7DCEBFD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338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design can scale into a broader healthcare operations platform as data and integrations mature.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840BE-8000-48E4-8CD2-60E0B6E9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40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A23434"/>
                </a:solidFill>
              </a:defRPr>
            </a:pPr>
            <a:r>
              <a:rPr sz="2400" b="1">
                <a:solidFill>
                  <a:srgbClr val="A23434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83460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2026-10-10T14:01:17.6530000Z</dcterms:created>
  <dcterms:modified xsi:type="dcterms:W3CDTF">2026-10-10T14:01:17.6540000Z</dcterms:modified>
</coreProperties>
</file>