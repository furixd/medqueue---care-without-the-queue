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ee62db9bc42fb" /><Relationship Type="http://schemas.openxmlformats.org/officeDocument/2006/relationships/extended-properties" Target="/docProps/app.xml" Id="R18ebef5edf1642ed" /><Relationship Type="http://schemas.openxmlformats.org/officeDocument/2006/relationships/officeDocument" Target="/ppt/presentation.xml" Id="R030786915816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221f6b82e416f"/>
  </p:sldMasterIdLst>
  <p:notesMasterIdLst>
    <p:notesMasterId xmlns:r="http://schemas.openxmlformats.org/officeDocument/2006/relationships" r:id="R639d502aa7824b08"/>
  </p:notesMasterIdLst>
  <p:sldIdLst>
    <p:sldId xmlns:r="http://schemas.openxmlformats.org/officeDocument/2006/relationships" id="256" r:id="R95508bd8222d4b8a"/>
    <p:sldId xmlns:r="http://schemas.openxmlformats.org/officeDocument/2006/relationships" id="257" r:id="Rf665927fcaa441c3"/>
    <p:sldId xmlns:r="http://schemas.openxmlformats.org/officeDocument/2006/relationships" id="258" r:id="R0b46375e03cc41dd"/>
    <p:sldId xmlns:r="http://schemas.openxmlformats.org/officeDocument/2006/relationships" id="259" r:id="R63996100c64d44ff"/>
    <p:sldId xmlns:r="http://schemas.openxmlformats.org/officeDocument/2006/relationships" id="260" r:id="Rd8ea8ecdea784e15"/>
    <p:sldId xmlns:r="http://schemas.openxmlformats.org/officeDocument/2006/relationships" id="261" r:id="Rdde50638519c4743"/>
    <p:sldId xmlns:r="http://schemas.openxmlformats.org/officeDocument/2006/relationships" id="262" r:id="R6a1e2e451b4d4e2f"/>
    <p:sldId xmlns:r="http://schemas.openxmlformats.org/officeDocument/2006/relationships" id="263" r:id="R51fa54fb6d3a4159"/>
    <p:sldId xmlns:r="http://schemas.openxmlformats.org/officeDocument/2006/relationships" id="264" r:id="R46ffbf285fbe4e53"/>
    <p:sldId xmlns:r="http://schemas.openxmlformats.org/officeDocument/2006/relationships" id="265" r:id="R79318101b9ed4a51"/>
    <p:sldId xmlns:r="http://schemas.openxmlformats.org/officeDocument/2006/relationships" id="266" r:id="R045ff6f2e6a24e82"/>
    <p:sldId xmlns:r="http://schemas.openxmlformats.org/officeDocument/2006/relationships" id="267" r:id="R57cf177808f7437c"/>
    <p:sldId xmlns:r="http://schemas.openxmlformats.org/officeDocument/2006/relationships" id="268" r:id="Rb70ee945aebf424e"/>
    <p:sldId xmlns:r="http://schemas.openxmlformats.org/officeDocument/2006/relationships" id="269" r:id="R5cadd338ac704cb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8a5ce24c694739" /><Relationship Type="http://schemas.openxmlformats.org/officeDocument/2006/relationships/slideMaster" Target="/ppt/slideMasters/slideMaster1.xml" Id="R0b9221f6b82e416f" /><Relationship Type="http://schemas.openxmlformats.org/officeDocument/2006/relationships/notesMaster" Target="/ppt/notesMasters/notesMaster1.xml" Id="R639d502aa7824b08" /><Relationship Type="http://schemas.openxmlformats.org/officeDocument/2006/relationships/presProps" Target="/ppt/presProps.xml" Id="Rfa957062484d4b8e" /><Relationship Type="http://schemas.openxmlformats.org/officeDocument/2006/relationships/viewProps" Target="/ppt/viewProps.xml" Id="R7629bf16e8d24fb2" /><Relationship Type="http://schemas.openxmlformats.org/officeDocument/2006/relationships/tableStyles" Target="/ppt/tableStyles.xml" Id="Rc8c75caea53a449c" /><Relationship Type="http://schemas.openxmlformats.org/officeDocument/2006/relationships/slide" Target="/ppt/slides/slide1.xml" Id="R95508bd8222d4b8a" /><Relationship Type="http://schemas.openxmlformats.org/officeDocument/2006/relationships/slide" Target="/ppt/slides/slide2.xml" Id="Rf665927fcaa441c3" /><Relationship Type="http://schemas.openxmlformats.org/officeDocument/2006/relationships/slide" Target="/ppt/slides/slide3.xml" Id="R0b46375e03cc41dd" /><Relationship Type="http://schemas.openxmlformats.org/officeDocument/2006/relationships/slide" Target="/ppt/slides/slide4.xml" Id="R63996100c64d44ff" /><Relationship Type="http://schemas.openxmlformats.org/officeDocument/2006/relationships/slide" Target="/ppt/slides/slide5.xml" Id="Rd8ea8ecdea784e15" /><Relationship Type="http://schemas.openxmlformats.org/officeDocument/2006/relationships/slide" Target="/ppt/slides/slide6.xml" Id="Rdde50638519c4743" /><Relationship Type="http://schemas.openxmlformats.org/officeDocument/2006/relationships/slide" Target="/ppt/slides/slide7.xml" Id="R6a1e2e451b4d4e2f" /><Relationship Type="http://schemas.openxmlformats.org/officeDocument/2006/relationships/slide" Target="/ppt/slides/slide8.xml" Id="R51fa54fb6d3a4159" /><Relationship Type="http://schemas.openxmlformats.org/officeDocument/2006/relationships/slide" Target="/ppt/slides/slide9.xml" Id="R46ffbf285fbe4e53" /><Relationship Type="http://schemas.openxmlformats.org/officeDocument/2006/relationships/slide" Target="/ppt/slides/slide10.xml" Id="R79318101b9ed4a51" /><Relationship Type="http://schemas.openxmlformats.org/officeDocument/2006/relationships/slide" Target="/ppt/slides/slide11.xml" Id="R045ff6f2e6a24e82" /><Relationship Type="http://schemas.openxmlformats.org/officeDocument/2006/relationships/slide" Target="/ppt/slides/slide12.xml" Id="R57cf177808f7437c" /><Relationship Type="http://schemas.openxmlformats.org/officeDocument/2006/relationships/slide" Target="/ppt/slides/slide13.xml" Id="Rb70ee945aebf424e" /><Relationship Type="http://schemas.openxmlformats.org/officeDocument/2006/relationships/slide" Target="/ppt/slides/slide14.xml" Id="R5cadd338ac704c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95ea77458c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53bb660c324c0e" /><Relationship Type="http://schemas.openxmlformats.org/officeDocument/2006/relationships/notesMaster" Target="/ppt/notesMasters/notesMaster1.xml" Id="R553bba8eef174d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6be3b426a54274" /><Relationship Type="http://schemas.openxmlformats.org/officeDocument/2006/relationships/notesMaster" Target="/ppt/notesMasters/notesMaster1.xml" Id="R91937826fd7746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7acb5891a44a94" /><Relationship Type="http://schemas.openxmlformats.org/officeDocument/2006/relationships/notesMaster" Target="/ppt/notesMasters/notesMaster1.xml" Id="Rd1d76233eee0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293e81a6e34861" /><Relationship Type="http://schemas.openxmlformats.org/officeDocument/2006/relationships/notesMaster" Target="/ppt/notesMasters/notesMaster1.xml" Id="R5a66bd0de097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198ded67447ef" /><Relationship Type="http://schemas.openxmlformats.org/officeDocument/2006/relationships/notesMaster" Target="/ppt/notesMasters/notesMaster1.xml" Id="R2907c49fe7a248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c5aee84fe14db8" /><Relationship Type="http://schemas.openxmlformats.org/officeDocument/2006/relationships/notesMaster" Target="/ppt/notesMasters/notesMaster1.xml" Id="R5f3f8e237d1e4e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e331255ea4159" /><Relationship Type="http://schemas.openxmlformats.org/officeDocument/2006/relationships/notesMaster" Target="/ppt/notesMasters/notesMaster1.xml" Id="Rfa71b341e8994d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91ac5bc5c04e82" /><Relationship Type="http://schemas.openxmlformats.org/officeDocument/2006/relationships/notesMaster" Target="/ppt/notesMasters/notesMaster1.xml" Id="Rb5d45679809e45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dbf43d23554a24" /><Relationship Type="http://schemas.openxmlformats.org/officeDocument/2006/relationships/notesMaster" Target="/ppt/notesMasters/notesMaster1.xml" Id="R58ee3a2c581e4a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837b6af4084dd7" /><Relationship Type="http://schemas.openxmlformats.org/officeDocument/2006/relationships/notesMaster" Target="/ppt/notesMasters/notesMaster1.xml" Id="Rde5f37f8c2024e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92023c895c4912" /><Relationship Type="http://schemas.openxmlformats.org/officeDocument/2006/relationships/notesMaster" Target="/ppt/notesMasters/notesMaster1.xml" Id="R8dabcd03d13b4f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ca11d33d214aa6" /><Relationship Type="http://schemas.openxmlformats.org/officeDocument/2006/relationships/notesMaster" Target="/ppt/notesMasters/notesMaster1.xml" Id="R00b0cb8ca2bf43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a838c84fad488d" /><Relationship Type="http://schemas.openxmlformats.org/officeDocument/2006/relationships/notesMaster" Target="/ppt/notesMasters/notesMaster1.xml" Id="Rc70c02c6af0c4e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46e2b9a0184843" /><Relationship Type="http://schemas.openxmlformats.org/officeDocument/2006/relationships/notesMaster" Target="/ppt/notesMasters/notesMaster1.xml" Id="R913b606eb19c49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f2226cc4140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55c6629bb4260" /><Relationship Type="http://schemas.openxmlformats.org/officeDocument/2006/relationships/image" Target="/ppt/media/image.jpeg" Id="R6bec23d4b21a4d98" /><Relationship Type="http://schemas.openxmlformats.org/officeDocument/2006/relationships/image" Target="/ppt/media/image.png" Id="R8e45599431fb42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4153eec534c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9b180218542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a662096e343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586ba20e940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5602da6b441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5711727fc4e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a9187ce1e436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de2d8320445b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39cca8b13413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128932-6BE5-4FF9-8FAE-FF1FEC8D56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6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4A1A405-4C05-4651-86C3-0C54BE434A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2D9DF0-AB85-47BC-AB2B-74CC98ACF9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CB6D2C-F052-4BE9-8B15-4675A0540D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89F0D9-40E2-4B4D-9A9B-80434BE046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304B27-308C-4A2F-838B-2E7DA65DA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3867033" y="-2048688"/>
            <a:ext cx="7029567" cy="6697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06666E-442D-4EB0-B118-ABE27AE03F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9D8DBE-2273-464F-9CC8-A08295DF7C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AAC3E0-8947-405B-AC85-D9BC57E993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00610B-1B93-4DE6-A68C-01D795993C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  <p:pic>
        <p:nvPicPr>
          <p:cNvPr id="2052" name="Picture 4">
            <a:extLst xmlns:a="http://schemas.openxmlformats.org/drawingml/2006/main">
              <a:ext uri="{FF2B5EF4-FFF2-40B4-BE49-F238E27FC236}">
                <a16:creationId xmlns:a16="http://schemas.microsoft.com/office/drawing/2014/main" id="{FFD41A00-27E2-4685-BFB8-E1C17BAF5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c23d4b21a4d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7646"/>
            <a:ext cx="1280593" cy="108645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6062F40-0724-4CBF-A664-DCA1860EB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5599431fb42f8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2103" y="41470"/>
            <a:ext cx="1280593" cy="12671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F488D2-E2DA-4899-94D0-A58A875BB7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8FACBD-B81F-45AB-9883-7BC31F86FB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8B2C84-DD0B-406A-A060-C1E0132E6D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139E71-0804-43DE-BECE-DE988EB919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26E45A-BAC0-4E96-A368-C39CD232BD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7B3B8E-6178-4B5A-8418-3BB9BD018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99CA01-D344-4FF8-B015-880E9F753B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CE71244-9438-4A5B-BA93-D871A912B2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E8F227-3E00-411D-ACC4-FDC87C5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62AF6E-AE69-4186-92CF-28E67762B9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431AD7-8D24-45A1-8F66-7722379E0A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28F7C6-4154-411E-9FA5-B72758221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14D2EF-CCC7-4EED-AD10-11AF6C11C5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D26766-CC50-4F46-8F63-F48F392C8D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376F267-3658-47F1-83B9-C4D38553F3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9110F68-B3F2-4C6A-BD9B-B1700237719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67CFBCE-928A-4D39-8234-9E7ABF99F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1C4861A-75A5-43B3-B1CA-0CE6DE4B8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B550F81-4DFC-4D69-ADB4-BE998D8511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B1BD70-BF4D-44B4-861A-2B632BEA7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AC5F467-8EA0-4752-932C-40D835BBB2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A40BB4-4D3F-4D8B-9C92-91D51996AE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38CEDBD-8C93-4ABB-94E5-0048BF204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68909BF-E7D5-46BE-B2EE-16BCCB2BB4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81525A2-BD38-4281-B923-F9FC0E6C5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F96857C-828E-438C-B32C-0FD65F7F4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54DEA9-0B5A-4AA4-A916-3B71970080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0DE401-9052-4490-99A3-E43044F004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C3D41DF-D995-4F93-879B-A7D6021F08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7B38602-E525-49B1-AA22-2A4AC7E2FC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084988-F1A3-411F-BD04-C70ECDFA0E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33BBD8-FA1E-4A8C-A7C4-B0B3CD216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A3FA22-6F4B-463B-9443-E4A4A98FF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B3DE11-FB59-4519-AF45-5887396617C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708CA7-FED9-4950-A75C-C0E77DCC22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30BA28F-3B77-4993-9C0F-7223027D0A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F86562-C69F-4B7B-B571-D020E21D86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96D48F-E40D-43DD-9A02-8CE1AB4A0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F62A76-7914-4B51-A757-62D5B8FCD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086605-D40F-482A-9190-A9C69E91D4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532ECD-B3A6-44F4-8520-46448695B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FC2EE9-FA17-40B7-8602-AA648C13A9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FF003F-EB05-438F-86F7-F69A4FADAA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30295CC-4DC0-4CB7-9CF2-7364A33FA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9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519E4C-FE06-4161-9EC8-BFF96B9D1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9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573D57-BE09-4013-AB29-F349F5C1AC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26E942-C78B-4C67-A0C8-6617D8248D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022532-D74C-4BBA-B799-CF4C493DA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f60c226aff4488" /><Relationship Type="http://schemas.openxmlformats.org/officeDocument/2006/relationships/slideLayout" Target="/ppt/slideLayouts/slideLayout1.xml" Id="R615144d862f44004" /><Relationship Type="http://schemas.openxmlformats.org/officeDocument/2006/relationships/slideLayout" Target="/ppt/slideLayouts/slideLayout2.xml" Id="R2a8c35ae89484142" /><Relationship Type="http://schemas.openxmlformats.org/officeDocument/2006/relationships/slideLayout" Target="/ppt/slideLayouts/slideLayout3.xml" Id="R7f50fd7f423d4bbc" /><Relationship Type="http://schemas.openxmlformats.org/officeDocument/2006/relationships/slideLayout" Target="/ppt/slideLayouts/slideLayout4.xml" Id="R10d09424424b44ee" /><Relationship Type="http://schemas.openxmlformats.org/officeDocument/2006/relationships/slideLayout" Target="/ppt/slideLayouts/slideLayout5.xml" Id="R23f15bd3c4f94ec7" /><Relationship Type="http://schemas.openxmlformats.org/officeDocument/2006/relationships/slideLayout" Target="/ppt/slideLayouts/slideLayout6.xml" Id="R4b354015989549ed" /><Relationship Type="http://schemas.openxmlformats.org/officeDocument/2006/relationships/slideLayout" Target="/ppt/slideLayouts/slideLayout7.xml" Id="R1f01f23bbd7c4186" /><Relationship Type="http://schemas.openxmlformats.org/officeDocument/2006/relationships/slideLayout" Target="/ppt/slideLayouts/slideLayout8.xml" Id="Ra6cd2860c175498c" /><Relationship Type="http://schemas.openxmlformats.org/officeDocument/2006/relationships/slideLayout" Target="/ppt/slideLayouts/slideLayout9.xml" Id="Rff7909226a7d443d" /><Relationship Type="http://schemas.openxmlformats.org/officeDocument/2006/relationships/slideLayout" Target="/ppt/slideLayouts/slideLayout10.xml" Id="R8757f1450b8540b4" /><Relationship Type="http://schemas.openxmlformats.org/officeDocument/2006/relationships/slideLayout" Target="/ppt/slideLayouts/slideLayout11.xml" Id="Rc3629435cf6147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158B4ED-41AB-4063-8E13-306811C00A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2EB46C-ACEA-4F63-B591-E0269006A0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501C62-5517-4E01-ADC2-FE6E5EC4A2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5A7E04-8157-4242-B1DC-031367A74F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6CB4F9-1371-46F7-88A9-47E638737E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144d862f44004"/>
    <p:sldLayoutId xmlns:r="http://schemas.openxmlformats.org/officeDocument/2006/relationships" id="2147483650" r:id="R2a8c35ae89484142"/>
    <p:sldLayoutId xmlns:r="http://schemas.openxmlformats.org/officeDocument/2006/relationships" id="2147483651" r:id="R7f50fd7f423d4bbc"/>
    <p:sldLayoutId xmlns:r="http://schemas.openxmlformats.org/officeDocument/2006/relationships" id="2147483652" r:id="R10d09424424b44ee"/>
    <p:sldLayoutId xmlns:r="http://schemas.openxmlformats.org/officeDocument/2006/relationships" id="2147483653" r:id="R23f15bd3c4f94ec7"/>
    <p:sldLayoutId xmlns:r="http://schemas.openxmlformats.org/officeDocument/2006/relationships" id="2147483654" r:id="R4b354015989549ed"/>
    <p:sldLayoutId xmlns:r="http://schemas.openxmlformats.org/officeDocument/2006/relationships" id="2147483655" r:id="R1f01f23bbd7c4186"/>
    <p:sldLayoutId xmlns:r="http://schemas.openxmlformats.org/officeDocument/2006/relationships" id="2147483656" r:id="Ra6cd2860c175498c"/>
    <p:sldLayoutId xmlns:r="http://schemas.openxmlformats.org/officeDocument/2006/relationships" id="2147483657" r:id="Rff7909226a7d443d"/>
    <p:sldLayoutId xmlns:r="http://schemas.openxmlformats.org/officeDocument/2006/relationships" id="2147483658" r:id="R8757f1450b8540b4"/>
    <p:sldLayoutId xmlns:r="http://schemas.openxmlformats.org/officeDocument/2006/relationships" id="2147483659" r:id="Rc3629435cf6147ed"/>
  </p:sldLayoutIdLst>
  <p:hf hdr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a9c7499234fb0" /><Relationship Type="http://schemas.openxmlformats.org/officeDocument/2006/relationships/image" Target="/ppt/media/image2.png" Id="R29c1ceda9daf4cde" /><Relationship Type="http://schemas.openxmlformats.org/officeDocument/2006/relationships/image" Target="/ppt/media/image.png" Id="Ree249526fe65461d" /><Relationship Type="http://schemas.openxmlformats.org/officeDocument/2006/relationships/notesSlide" Target="/ppt/notesSlides/notesSlide1.xml" Id="R826938743455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6ceb836b354c6c" /><Relationship Type="http://schemas.openxmlformats.org/officeDocument/2006/relationships/notesSlide" Target="/ppt/notesSlides/notesSlide2.xml" Id="Re1105467217441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1528066d51424f" /><Relationship Type="http://schemas.openxmlformats.org/officeDocument/2006/relationships/notesSlide" Target="/ppt/notesSlides/notesSlide3.xml" Id="R9a1c786e3ebf4d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b247a1737b429b" /><Relationship Type="http://schemas.openxmlformats.org/officeDocument/2006/relationships/notesSlide" Target="/ppt/notesSlides/notesSlide4.xml" Id="R779d110b875b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dfbbd569da48f0" /><Relationship Type="http://schemas.openxmlformats.org/officeDocument/2006/relationships/notesSlide" Target="/ppt/notesSlides/notesSlide5.xml" Id="Rc721bc4faf8e4f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57d5e17fc84103" /><Relationship Type="http://schemas.openxmlformats.org/officeDocument/2006/relationships/notesSlide" Target="/ppt/notesSlides/notesSlide6.xml" Id="R4581462f4b9449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6e4ef4e7bb4e0c" /><Relationship Type="http://schemas.openxmlformats.org/officeDocument/2006/relationships/notesSlide" Target="/ppt/notesSlides/notesSlide7.xml" Id="Ra2baa55c51ee48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de605e042417a" /><Relationship Type="http://schemas.openxmlformats.org/officeDocument/2006/relationships/notesSlide" Target="/ppt/notesSlides/notesSlide8.xml" Id="R043a80574c414e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060a203134644" /><Relationship Type="http://schemas.openxmlformats.org/officeDocument/2006/relationships/notesSlide" Target="/ppt/notesSlides/notesSlide9.xml" Id="R40c80d09c25d4e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7b846d63b4aad" /><Relationship Type="http://schemas.openxmlformats.org/officeDocument/2006/relationships/notesSlide" Target="/ppt/notesSlides/notesSlide10.xml" Id="R31c61cc579374a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99ea2f59ec44b1" /><Relationship Type="http://schemas.openxmlformats.org/officeDocument/2006/relationships/notesSlide" Target="/ppt/notesSlides/notesSlide11.xml" Id="Re193fe500bc247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49a1538e474b97" /><Relationship Type="http://schemas.openxmlformats.org/officeDocument/2006/relationships/notesSlide" Target="/ppt/notesSlides/notesSlide12.xml" Id="R9477b52ed6bc40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58184920d84456" /><Relationship Type="http://schemas.openxmlformats.org/officeDocument/2006/relationships/notesSlide" Target="/ppt/notesSlides/notesSlide13.xml" Id="Rd4fd581865524d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0f202e80e4f42" /><Relationship Type="http://schemas.openxmlformats.org/officeDocument/2006/relationships/notesSlide" Target="/ppt/notesSlides/notesSlide14.xml" Id="Re35e4eb6015e40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D797B6-F38A-4224-8296-3571E41581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16927" y="1698208"/>
            <a:ext cx="8887521" cy="880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3200" b="1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D59869D-5C5E-417B-AAC4-472D6F6FE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93469" y="3732357"/>
            <a:ext cx="6190488" cy="2971800"/>
          </a:xfrm>
        </p:spPr>
        <p:txBody>
          <a:bodyPr xmlns:a="http://schemas.openxmlformats.org/drawingml/2006/main">
            <a:normAutofit fontScale="78891" lnSpcReduction="20000"/>
          </a:bodyPr>
          <a:lstStyle xmlns:a="http://schemas.openxmlformats.org/drawingml/2006/main">
            <a:defPPr algn="ctr">
              <a:defRPr sz="1350" b="1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MediFlow: An Intelligent Virtual Crowd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908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Management Platform</a:t>
            </a:r>
            <a:endParaRPr sz="48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776"/>
              </a:spcBef>
              <a:buClr>
                <a:schemeClr val="dk2"/>
              </a:buClr>
              <a:buSzPct val="100000"/>
              <a:buNone/>
            </a:pPr>
            <a:r>
              <a:rPr sz="3700" b="1">
                <a:latin typeface="Times New Roman"/>
                <a:ea typeface="Times New Roman"/>
                <a:cs typeface="Times New Roman"/>
              </a:rPr>
              <a:t/>
            </a:r>
            <a:endParaRPr sz="37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Submitted by: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Student Name(s) (USN)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820"/>
              </a:spcBef>
              <a:buClr>
                <a:schemeClr val="dk2"/>
              </a:buClr>
              <a:buSzPct val="100000"/>
              <a:buNone/>
            </a:pPr>
            <a:r>
              <a:rPr sz="3400" b="1">
                <a:latin typeface="Times New Roman"/>
                <a:ea typeface="Times New Roman"/>
                <a:cs typeface="Times New Roman"/>
              </a:rPr>
              <a:t/>
            </a:r>
            <a:endParaRPr sz="3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UNDER THE GUIDANCE OF: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Faculty Guide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Department of CSE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BMSIT&amp;M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2026–27</a:t>
            </a:r>
            <a:endParaRPr sz="2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8" name="Picture 4">
            <a:extLst xmlns:a="http://schemas.openxmlformats.org/drawingml/2006/main">
              <a:ext uri="{FF2B5EF4-FFF2-40B4-BE49-F238E27FC236}">
                <a16:creationId xmlns:a16="http://schemas.microsoft.com/office/drawing/2014/main" id="{DE0B4E62-38B5-4990-9952-6B5A2873B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1ceda9daf4c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010" y="-16064"/>
            <a:ext cx="9012936" cy="2014174"/>
          </a:xfrm>
          <a:prstGeom xmlns:a="http://schemas.openxmlformats.org/drawingml/2006/main" prst="rect">
            <a:avLst/>
          </a:prstGeom>
        </p:spPr>
      </p:pic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45F9DE8D-BEDA-78E6-1063-A5D3E74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546" y="2716554"/>
            <a:ext cx="6629400" cy="88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70000" lnSpcReduction="20000"/>
          </a:bodyPr>
          <a:lstStyle xmlns:a="http://schemas.openxmlformats.org/drawingml/2006/main">
            <a:lvl1pPr algn="ctr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Mini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Project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- Review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1 </a:t>
            </a: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V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Sem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(BCS506)</a:t>
            </a:r>
          </a:p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FAD1AB95-8E02-4007-BC7B-D74CBF9A3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49526fe65461d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94471" y="118194"/>
            <a:ext cx="1596807" cy="15800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9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>CONTENTS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3611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and Proposed System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Major Modules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Hybrid Queue Optimization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Workflow and Architecture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Technology Stack and Database Design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Use Case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Benefits and Future Enhancements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94E9A-A4D1-4DD9-B86A-D686C8EB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EC0A0-70F9-4C1C-9E62-00D2028C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573A1-CB66-4CC5-A60D-47A007BC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practical mini-project scope for smart healthcare flow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2B7D5-A2DF-494C-A7ED-8E27FDE7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4BF5A-0BBF-4FF8-8298-EC3B493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0517B-FFBB-464B-8AD3-27BE94C2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replaces unmanaged physical waiting with virtual tokens, priority rules, and live updates.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7DDD5-AB9F-4561-A6AD-FE2E4AD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73983-726F-441F-8BEA-F9FD87E3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384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Machine-learning estimates and crowd-risk alerts help hospitals act before congestion becomes critical.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AC4F6-830E-4742-A7B2-C125E0B2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86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DB73A-C86E-46F2-98AC-AE1A9ACF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861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demonstrable core includes registration, token generation, priority queues, wait prediction, dashboard monitoring, and notifications.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DDF40-E615-4D87-ABB7-D1027F4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338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B1A4E-42C0-45FC-BBAF-AC73E7DE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338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design can scale into a broader healthcare operations platform as data and integrations mature.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5F104-7100-450D-99DF-5C63E85E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40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A23434"/>
                </a:solidFill>
              </a:defRPr>
            </a:pPr>
            <a:r>
              <a:rPr sz="2400" b="1">
                <a:solidFill>
                  <a:srgbClr val="A23434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1A42D-1B37-4422-B286-ECEBA27F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961B0-2ED8-4C1D-A9B1-4970A378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Expected Benefits and Future Enhancements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32246-D743-4FFE-8EBE-7D5662E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Near-term operational impact and expansion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D6FA5-A344-4FD3-BEA6-24A16AC1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3950B-687E-4F6A-8AC9-6BC832DF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Expected benefits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CDD4F-985B-4776-A126-79BF819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9D1EB-14C5-4DEC-BC60-72B17B20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Shorter perceived and actual wait times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51D3C-B903-468B-B9A2-11B1062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00C7B-382C-4535-8CE4-797C698F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194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Less congestion and infection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874E2-8A24-4336-B785-F772407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E55B0-5C9B-487C-96D1-5CBDD855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719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Better use of clinical staff and 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435A0-E3F4-4799-8A9E-FBF638BB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05BAD-37AA-46D0-B5D5-F491E8CB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243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More transparent patient communication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93E3D-BC9A-4D46-969D-D3811BE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Future enhancements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807F9-B95A-4B52-AD81-C397B0DB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6A33F-21CE-4D1D-9EF3-3737ABA6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670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EHR integration and QR check-in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B53BA-B53D-468C-ACE0-971947E5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8DCDA-0C83-4B98-B09E-4267605F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Indoor navigation and multilingual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86EAC-BAD2-43F9-A002-BD6D70E7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90C3F-83F7-4A7E-9636-041C7FA3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Privacy-governed CCTV crowd counting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D35EA-DA19-4DB2-9FC6-0D58528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74F68-9E29-478C-B2E7-A85782AB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Predictive staffing and teleconsultation options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FC5C3-96B9-4AD1-A1F4-C23D3B91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CB94F-191B-414C-8DB1-C93F297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Sample Use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CB6DB-95F3-47E2-B46F-A84C926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Priya’s dermatology consultation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2034E-2536-4DD1-8DC0-89D56B7F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23CF1-7837-48E0-A309-954E2C6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10:00 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AECBC-3C62-4AF6-9A14-6035D3F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4091F-A249-4E76-BFD6-D4DC9D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Priya books a consultation and receives token D-27.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C95CE-9D1D-4F99-B373-6D269E8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81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Queue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F62E2-16A5-400F-9A8E-DA8D7F3F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765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4A2AE-07EE-4C43-A220-8C2E64AD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The system sees 18 active patients, a 12-minute delay, and a 9-minute average consultation.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86A31-FDA3-48FB-A4D1-D512B2DF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242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10:30 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F9928-A3A7-4BEF-B9B8-8FDD5D0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9A9B2-5AE8-412C-952F-F5519AE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MediFlow advises Priya to arrive at the dermatology waiting area.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30F4E-79BB-4604-8C66-995CE29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672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10:25 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F26AA-58D6-456B-A746-8DE0A8CE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42254-9818-4AEF-BE73-AB5084DD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672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 alert reports that only two patients remain before her turn and directs her to Room 204.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0F309-9ADE-4F4B-B4A9-F3D638F5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12EB8-AA60-421D-B034-719E1EC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Technology Stack and Data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54D2E-68E7-4D39-93DA-14B7DF73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Suggested mini-project implementation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9B05D-465C-41C3-815F-CE3499E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83BBA-DBD6-4CE0-8F7C-DC9A297F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Technology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8F434-09F5-4575-A0F1-A3E68AE9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FF4CF-35A6-4E56-84D0-D1F814B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Frontend: React.js, HTML, CSS,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553B9-EFE0-424F-BD02-589F345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6DF2D-81F3-4DDB-BA3A-7E3438B4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004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Mobile: Flutter or React Native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D3CF7-2750-4EC9-A54F-F4306A80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902A4-60FD-4EFA-AF97-DA7DD4B5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338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Backend: Python Flask/Django or Node.js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95896-86AC-4CB2-8E21-3ADA070A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0FD6B-57A8-4046-85F7-44EB2B41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672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Data and ML: MySQL/PostgreSQL, Python, Scikit-learn,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B724B-F359-4E9B-8786-22E7D557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374DE-BAD3-4CDA-A9EB-6A8D319E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006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Real-time updates: Firebase, Socket.IO, or WebSockets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44D92-85AF-4C87-868E-45440155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Core data entities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1E5AC-C637-49DA-9402-E57DBF0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F2E21-312C-4463-8032-6BA6BF9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Patients and appointments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0902E-3A33-4087-9B2B-4BA97B06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E81FA-F6F5-4A1E-A8F2-1B87105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Tokens and queue 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A279F-D5AB-47D1-8AB6-D95E2B5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B0281-C034-487B-946C-950125F2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Doctors and departments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99443-BF4E-4F9B-9267-778128C5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875A47-C2D8-492C-855E-3CE687F0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Crowd metrics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9755C-F79B-4331-AE47-FD771131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C936E-7FBD-4DDF-9D8B-F2398ACD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Proposed System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8C713-DEBB-40E3-AF52-A11F7BC0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Real-time patient flow from entry points to operational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6C12F-99C3-45FD-A37B-1C58E6E6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715ED-993E-4F8F-B967-5DB2791E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71198-BCC6-4FB0-BBD8-FC41A822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Entry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5FBC6-386F-46E9-BAA1-2459585C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Mobile app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Hospital kiosk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Website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Reception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5FE90-5E0A-4F2A-8C48-4359B284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CB596-4F36-4806-827B-4BDDF9EC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65618-5B79-4788-9EB2-BD3362D2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43F62"/>
                </a:solidFill>
              </a:defRPr>
            </a:pPr>
            <a:r>
              <a:rPr sz="1650" b="1">
                <a:solidFill>
                  <a:srgbClr val="243F62"/>
                </a:solidFill>
              </a:rPr>
              <a:t>MediFlow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90A57-EA03-4B34-A376-BF21C855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Token service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Priority queue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ML prediction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Notification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A0D15-9B9A-4B3F-9CAD-6FF2892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3A451-007F-435D-8387-AF4D4E66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1BB65-BB33-427A-9B8F-DFBE853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F2442-1186-4573-8396-774B4EA5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Admin dashboard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Doctor and lab status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Capacity alerts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C220A-2E38-41AF-AA2A-C52A6501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9337F-D80A-4700-ABDA-EB69D041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System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3931A-09D0-4579-9257-B9CE2C23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token issue through service completion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AD2FF-AE63-49BA-914E-840E08AB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D6159-91A9-4EF0-AECB-2B82A44A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6FF3D-095C-47F5-BD4A-A544929D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906AA-CE73-4E30-B802-981183A6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Register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DBBBC-5727-4686-8D1B-F23BF054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141C0-CD0E-4647-A7E5-913EC99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CE0AE-4E60-48DF-9C77-B46ED6EF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35879-884C-4286-B38B-6BA73B88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Verify or create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walk-in entry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07808-0C2E-4A10-98D2-0B739FF9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FB238-545A-4C3D-9DE9-920B488F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4ADEF-8067-40A5-B925-C4288125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12900-3205-4B0A-B444-1663BA9B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Issue digital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024E7-52B9-4DAD-BC4C-CC89173E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09D78-F292-4366-9415-506ECCE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5DE6E-1587-403B-A55C-DEF93FA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F8276-5CC5-4CF3-BFA0-35456830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Apply priority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83EDB-C9A2-4AEB-814B-B26926B4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8B5A4-CC4D-422D-93CB-C8E77C6E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99E419-093F-443E-9635-A59F10ED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4BB1D3-4281-482A-B1CA-264453B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Predict wait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007EF-5CF4-477F-887B-0629BB7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D683F-0AC3-480B-9CE6-D044CDD8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1A906-9B61-4C48-A1A2-2B82921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944BEA-F5A3-4520-9361-0F2A2676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Notify and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call patient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AF7E37-D3E9-46D2-B8DD-EF3DC59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794B3-6090-4C27-B0E2-68D7A424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92AF22-C181-4DFA-914D-A64CBCE7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95496F-655B-4004-9917-3D8B03E4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Complete or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move to next stage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7F89C4-6353-4A28-9028-A1500418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At every update, the dashboard recalculates wait estimates and checks crowd risk.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CEF63-35E3-4D96-8725-9BF6B821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F5BD5-AD25-4ED8-8E4D-86DFB478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Hybrid Queue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81F9A-AC22-474D-9417-DA50CDD1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Priority-based allocation plus machine-learning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B7DD8-77FD-4953-93B9-1E2A0F99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C7B38-120F-4DA3-8A05-EE460BD2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Priority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D7ADE-0CA6-4B9F-A645-754489D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442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(Urgency × Wu) + (Age Risk × Wa) +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(Appointment Status × Ws) + (Waiting Time × Ww)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8DC65-7020-406D-91BE-4FAFF0AD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Waiting-time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4161E-EB5A-4A2D-9A50-7B5DDEC8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Inputs: queue length, doctor, service type,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staff availability, delays, and historical durations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Output: an estimated range, such as 18–25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A680B-30F0-4FA9-B860-6078291D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Crowd-risk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A1105-D7FC-4A32-B28A-C7097AE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96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(Current Patients + Predicted Arrivals)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÷ Available Service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D3D39-7C0A-4B5C-A553-C78DE21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Risk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F3883-47FB-4776-A8D6-F85BF52A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Green  Low     Yellow  Moderate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Orange  High     Red  Critical overcrowding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CCA4C-3659-4964-AB4E-E2A0617D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8C84C-64EA-460C-A04D-518197FB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Major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70636-AE7C-44E8-B082-BA10122A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connected service layer for patients and hospital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562B8-FD44-42A1-B977-630DE476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B1547-19EF-4428-B621-3D5776D5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D7C60-B2AC-4E14-95AF-37C438BA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Patient registration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48907-A110-45DA-8827-42D01C49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Appointments, walk-in tokens, referrals, and queue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4EF1B-FDB9-4E61-BAB5-F7CA2B4A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87223-A15C-4A44-8154-48C8200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Smart virtual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1132A-8005-40C4-B306-52D222F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241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Token display, patients ahead, ETA, and arrival prompts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F7772-6635-4616-A08D-BD704EF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05A96-CA28-48E2-A7CD-20E78C59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Priority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C6812-A60C-420A-A1D2-7411013F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Urgency, age risk, appointment status, and waiting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0E65A-0F23-4804-8372-613B5933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05E41-F2CC-4B64-89D5-FF78D3CC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Prediction and alerts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0F4B5-9118-458B-87AF-68528A45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95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Waiting-time estimation and crowd-risk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D6777-0BBD-4193-A649-41B03CFC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43DF0-F7F4-4344-B1EC-2566E32C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Admin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31294-EF4D-433A-B717-1778D9D1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Queues, staff status, capacity, analytics, and action alerts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5E296-0DA4-4C4E-9D04-FE7139A6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17D4E-2714-4CA4-B7BA-A8294AE0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Existing System and MediFlow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33775-2A7B-4997-8D3A-B165E4B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From manual queue handling to adaptive patient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F692C-D4BD-41B1-82D6-6CD51FB3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7863D-356F-4A50-BFAE-8799170F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23434"/>
                </a:solidFill>
              </a:defRPr>
            </a:pPr>
            <a:r>
              <a:rPr sz="1950" b="1">
                <a:solidFill>
                  <a:srgbClr val="A23434"/>
                </a:solidFill>
              </a:rPr>
              <a:t>Existing approach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985F2-CC40-44B8-AB8D-BD41C58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3F62"/>
                </a:solidFill>
              </a:defRPr>
            </a:pPr>
            <a:r>
              <a:rPr sz="1950" b="1">
                <a:solidFill>
                  <a:srgbClr val="243F62"/>
                </a:solidFill>
              </a:rPr>
              <a:t>MediFlow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112EB-C4F8-4C03-B2B2-8D75171C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88C41-DE37-4930-B8B4-0B19DB89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Paper slips or isolated registers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666B0-0881-401A-9119-09A9EF81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7E0C9-6CA0-4AE8-A9BB-2A8FDEDA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First-come-first-served 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E49FF-5568-413E-9740-3041962D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FBB09-F6C4-4527-BBB1-C8E3335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Manual delay 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34060-9A2C-485F-94DD-665CD39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56E62-BE27-40C4-9AE0-3F7E5DE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Limited visibility of queue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1AFC6-97C4-45EC-B1F8-F9635970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291E2-26DE-4367-822C-E0293486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Digital tokens from app, kiosk, web, or reception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CE24E-6765-4A92-B0A7-E6009E6B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CCEA5-09DD-4F10-8E86-09C9057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Weighted priority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6E42A-56B0-4BB0-B6FC-2C22C49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E801C-2981-48ED-8292-D6F9A1E7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19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Live alerts and revised arrival times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553E6-48B2-4E89-98F6-F5BD62F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AC910-F7A4-43AE-8D54-733E2F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101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Dashboard with capacity and crowd-risk signals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9F897-3E4C-4D41-893B-2D37E2F2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0" cy="26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5C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677C9-83BC-4BEB-A76E-EDA71DA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64B46-4F69-4371-9947-C66E7D00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Project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0677B-B271-4976-92F6-E7860B29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Patient-focused flow management with operational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864B0-2E26-4750-B46D-8101B378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ADAD2-4314-49AC-A218-7A0C0412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CCED3-3443-499D-AACF-C79CF9F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Reduce crowding in waiting areas through virtual tokens and suggested arrival times.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3D0C4-713F-49B9-97EF-D1B03C0E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D6768-96E6-4533-A0BE-DD15BBC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432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Provide real-time queue position and estimated waiting-time ranges.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4EADE-3637-4AB6-93C0-7BA98EC5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956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B73B7-40FF-4D27-BF16-9FB5D086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956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Prioritize emergency and high-risk patients while preventing excessive routine waits.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EE8EE-3361-4CA4-AFEA-CE6FD9B5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481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9CE84-D99B-4FF7-A802-F47ADE1A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481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Predict peak load and help staff allocate counters, rooms, doctors, and technicians.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44966-788D-4CC3-85E9-3F9F2F2E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81BDD-E1A7-45FB-9C57-161F65A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005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Maintain a digital movement record for each patient service stage.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73F8-9D88-4C34-B6D2-DE294EF2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14D39-96E5-4BF9-BDFA-72557BA8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Problem 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009F4-5DBC-4CE7-952C-57D871D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Manual and first-come-first-served queues cannot adapt to clinical reality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CDB3C-C066-4458-9F14-0314AE27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9B3BD-45CD-41D7-903F-1240734C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4610C-A271-41C0-9A98-7254A6B6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Urgency, age risk, appointments, walk-ins, and emergency cases require different treatment.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E5890-DED2-4617-B33C-E30787D4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4DC18-8375-4F6D-916D-E1A4F9E4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Doctor delays and variable consultation times make static appointment registers unreliable.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4E4A7-3F72-418A-91F4-744C616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6F4C7-9C0E-41C4-88EF-49DF448A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Patients move through dependent stages such as registration, consultation, lab testing, and pharmacy.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FC0B4-8B6C-498E-B098-B29B9821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9B000-0E3E-4EDD-AD77-422D22BB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Administrators lack early warning when peak-hour demand exceeds seating or service capacity.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132C9-318E-47C1-A351-E13A6285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D9442-FEA5-410F-88DA-686F3EA36B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91AD9D-552E-4045-B801-D9BCEDC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1AFFF-15E3-4D09-AC07-E683B40E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0987A-8563-4A2B-B73A-BEAFA4EE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AD8E2-9065-4FFF-9510-15B27446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queues reduce unnecessary waiting inside care facilities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E34ED-DABE-4C68-87EE-4428B00E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58EDA-AD95-48C7-80EB-B66B042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D4E02-8C73-44B4-AF7B-4FC671D1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Hospitals and diagnostic centers often face congestion at registration, consultation, labs, pharmacy, and billing.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DB5E5-1C9C-4C43-AEA0-6B43304C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5BA45-F0E2-4492-AF45-DCCFF300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Long physical queues delay care, strain staff, and increase infection exposure for vulnerable patients.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E72E2-FA50-4D51-A902-D930B718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519CA-CA4A-4A62-A08E-529CD37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gives patients a digital token, estimated waiting time, and arrival recommendation.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C5BFB-D7A4-47A9-A694-D2B0B47E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814DA-AAE5-466E-8944-B1DEE33E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 live dashboard helps staff see queue growth, service delays, capacity, and crowding risk.</a:t>
            </a:r>
          </a:p>
        </p:txBody>
      </p:sp>
    </p:spTree>
    <p:extLst>
      <p:ext uri="{BB962C8B-B14F-4D97-AF65-F5344CB8AC3E}">
        <p14:creationId xmlns:p14="http://schemas.microsoft.com/office/powerpoint/2010/main" val="21145445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2026-10-10T13:58:54.7210000Z</dcterms:created>
  <dcterms:modified xsi:type="dcterms:W3CDTF">2026-10-10T13:58:54.7210000Z</dcterms:modified>
</coreProperties>
</file>