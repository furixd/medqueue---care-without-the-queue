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bb57b825924a4e" /><Relationship Type="http://schemas.openxmlformats.org/officeDocument/2006/relationships/extended-properties" Target="/docProps/app.xml" Id="R1de7b02a4d9f4a75" /><Relationship Type="http://schemas.openxmlformats.org/officeDocument/2006/relationships/officeDocument" Target="/ppt/presentation.xml" Id="R586ec7116ef04a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a2ac621a6b4690"/>
  </p:sldMasterIdLst>
  <p:notesMasterIdLst>
    <p:notesMasterId xmlns:r="http://schemas.openxmlformats.org/officeDocument/2006/relationships" r:id="R5e7722920724437e"/>
  </p:notesMasterIdLst>
  <p:sldIdLst>
    <p:sldId xmlns:r="http://schemas.openxmlformats.org/officeDocument/2006/relationships" id="256" r:id="R8cf377aa55a34862"/>
    <p:sldId xmlns:r="http://schemas.openxmlformats.org/officeDocument/2006/relationships" id="257" r:id="Rc4de83e7e6ef4899"/>
    <p:sldId xmlns:r="http://schemas.openxmlformats.org/officeDocument/2006/relationships" id="258" r:id="R9409319856f844e9"/>
    <p:sldId xmlns:r="http://schemas.openxmlformats.org/officeDocument/2006/relationships" id="259" r:id="Rd0a955d02c884a56"/>
    <p:sldId xmlns:r="http://schemas.openxmlformats.org/officeDocument/2006/relationships" id="260" r:id="R7ed6d694a0fb466f"/>
    <p:sldId xmlns:r="http://schemas.openxmlformats.org/officeDocument/2006/relationships" id="261" r:id="Rc52449df7a554f02"/>
    <p:sldId xmlns:r="http://schemas.openxmlformats.org/officeDocument/2006/relationships" id="262" r:id="Rf7e2ef01a4ba47a5"/>
    <p:sldId xmlns:r="http://schemas.openxmlformats.org/officeDocument/2006/relationships" id="263" r:id="Rc527fe41c06e410e"/>
    <p:sldId xmlns:r="http://schemas.openxmlformats.org/officeDocument/2006/relationships" id="264" r:id="R845931affbb34ab5"/>
    <p:sldId xmlns:r="http://schemas.openxmlformats.org/officeDocument/2006/relationships" id="265" r:id="R99b1ee9f6f724211"/>
    <p:sldId xmlns:r="http://schemas.openxmlformats.org/officeDocument/2006/relationships" id="266" r:id="R3a4aec04cfb34a1f"/>
    <p:sldId xmlns:r="http://schemas.openxmlformats.org/officeDocument/2006/relationships" id="267" r:id="R8530f46217a04c41"/>
    <p:sldId xmlns:r="http://schemas.openxmlformats.org/officeDocument/2006/relationships" id="268" r:id="R5cb33c5c9b4c4eba"/>
    <p:sldId xmlns:r="http://schemas.openxmlformats.org/officeDocument/2006/relationships" id="269" r:id="Rb0f4146814be4f27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1a8e3e247b498f" /><Relationship Type="http://schemas.openxmlformats.org/officeDocument/2006/relationships/slideMaster" Target="/ppt/slideMasters/slideMaster1.xml" Id="R78a2ac621a6b4690" /><Relationship Type="http://schemas.openxmlformats.org/officeDocument/2006/relationships/notesMaster" Target="/ppt/notesMasters/notesMaster1.xml" Id="R5e7722920724437e" /><Relationship Type="http://schemas.openxmlformats.org/officeDocument/2006/relationships/presProps" Target="/ppt/presProps.xml" Id="Rea1c213822034867" /><Relationship Type="http://schemas.openxmlformats.org/officeDocument/2006/relationships/viewProps" Target="/ppt/viewProps.xml" Id="Rd56fb4a84faa43c2" /><Relationship Type="http://schemas.openxmlformats.org/officeDocument/2006/relationships/tableStyles" Target="/ppt/tableStyles.xml" Id="R70d3eb607c42461b" /><Relationship Type="http://schemas.openxmlformats.org/officeDocument/2006/relationships/slide" Target="/ppt/slides/slide1.xml" Id="R8cf377aa55a34862" /><Relationship Type="http://schemas.openxmlformats.org/officeDocument/2006/relationships/slide" Target="/ppt/slides/slide2.xml" Id="Rc4de83e7e6ef4899" /><Relationship Type="http://schemas.openxmlformats.org/officeDocument/2006/relationships/slide" Target="/ppt/slides/slide3.xml" Id="R9409319856f844e9" /><Relationship Type="http://schemas.openxmlformats.org/officeDocument/2006/relationships/slide" Target="/ppt/slides/slide4.xml" Id="Rd0a955d02c884a56" /><Relationship Type="http://schemas.openxmlformats.org/officeDocument/2006/relationships/slide" Target="/ppt/slides/slide5.xml" Id="R7ed6d694a0fb466f" /><Relationship Type="http://schemas.openxmlformats.org/officeDocument/2006/relationships/slide" Target="/ppt/slides/slide6.xml" Id="Rc52449df7a554f02" /><Relationship Type="http://schemas.openxmlformats.org/officeDocument/2006/relationships/slide" Target="/ppt/slides/slide7.xml" Id="Rf7e2ef01a4ba47a5" /><Relationship Type="http://schemas.openxmlformats.org/officeDocument/2006/relationships/slide" Target="/ppt/slides/slide8.xml" Id="Rc527fe41c06e410e" /><Relationship Type="http://schemas.openxmlformats.org/officeDocument/2006/relationships/slide" Target="/ppt/slides/slide9.xml" Id="R845931affbb34ab5" /><Relationship Type="http://schemas.openxmlformats.org/officeDocument/2006/relationships/slide" Target="/ppt/slides/slide10.xml" Id="R99b1ee9f6f724211" /><Relationship Type="http://schemas.openxmlformats.org/officeDocument/2006/relationships/slide" Target="/ppt/slides/slide11.xml" Id="R3a4aec04cfb34a1f" /><Relationship Type="http://schemas.openxmlformats.org/officeDocument/2006/relationships/slide" Target="/ppt/slides/slide12.xml" Id="R8530f46217a04c41" /><Relationship Type="http://schemas.openxmlformats.org/officeDocument/2006/relationships/slide" Target="/ppt/slides/slide13.xml" Id="R5cb33c5c9b4c4eba" /><Relationship Type="http://schemas.openxmlformats.org/officeDocument/2006/relationships/slide" Target="/ppt/slides/slide14.xml" Id="Rb0f4146814be4f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4a1a023ae444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6018e2469d4a7f" /><Relationship Type="http://schemas.openxmlformats.org/officeDocument/2006/relationships/notesMaster" Target="/ppt/notesMasters/notesMaster1.xml" Id="R73e24de32a9e4f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cc787be07d4f51" /><Relationship Type="http://schemas.openxmlformats.org/officeDocument/2006/relationships/notesMaster" Target="/ppt/notesMasters/notesMaster1.xml" Id="R8a71a98a894c40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eb064ef4d540c0" /><Relationship Type="http://schemas.openxmlformats.org/officeDocument/2006/relationships/notesMaster" Target="/ppt/notesMasters/notesMaster1.xml" Id="R3b99ac0cf5704e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ed5800e81e4804" /><Relationship Type="http://schemas.openxmlformats.org/officeDocument/2006/relationships/notesMaster" Target="/ppt/notesMasters/notesMaster1.xml" Id="Rb6287178aad642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bb6bc331424b14" /><Relationship Type="http://schemas.openxmlformats.org/officeDocument/2006/relationships/notesMaster" Target="/ppt/notesMasters/notesMaster1.xml" Id="R9963d75d7a1946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e8d0b2c4624faa" /><Relationship Type="http://schemas.openxmlformats.org/officeDocument/2006/relationships/notesMaster" Target="/ppt/notesMasters/notesMaster1.xml" Id="R92715b66999340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3a6ffafad84ddc" /><Relationship Type="http://schemas.openxmlformats.org/officeDocument/2006/relationships/notesMaster" Target="/ppt/notesMasters/notesMaster1.xml" Id="R55f8a8e9d07445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f367d2df404109" /><Relationship Type="http://schemas.openxmlformats.org/officeDocument/2006/relationships/notesMaster" Target="/ppt/notesMasters/notesMaster1.xml" Id="R38e68ba5ecde45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743fee897243cf" /><Relationship Type="http://schemas.openxmlformats.org/officeDocument/2006/relationships/notesMaster" Target="/ppt/notesMasters/notesMaster1.xml" Id="R51683c8119df46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35b53fc59340fc" /><Relationship Type="http://schemas.openxmlformats.org/officeDocument/2006/relationships/notesMaster" Target="/ppt/notesMasters/notesMaster1.xml" Id="Rd87ecf6a368e4a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68e693d1e84ade" /><Relationship Type="http://schemas.openxmlformats.org/officeDocument/2006/relationships/notesMaster" Target="/ppt/notesMasters/notesMaster1.xml" Id="Ra0def57cd67f48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400e90b32a47e9" /><Relationship Type="http://schemas.openxmlformats.org/officeDocument/2006/relationships/notesMaster" Target="/ppt/notesMasters/notesMaster1.xml" Id="R9a91d405525e4e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3aa4520c5447a8" /><Relationship Type="http://schemas.openxmlformats.org/officeDocument/2006/relationships/notesMaster" Target="/ppt/notesMasters/notesMaster1.xml" Id="Rfbc5c0af4a364f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4e72c48b3945f4" /><Relationship Type="http://schemas.openxmlformats.org/officeDocument/2006/relationships/notesMaster" Target="/ppt/notesMasters/notesMaster1.xml" Id="Rf1027f4a2c4d43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8c427a10df43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c2ff6191eb4c92" /><Relationship Type="http://schemas.openxmlformats.org/officeDocument/2006/relationships/image" Target="/ppt/media/image.jpeg" Id="R38ec0730d363483e" /><Relationship Type="http://schemas.openxmlformats.org/officeDocument/2006/relationships/image" Target="/ppt/media/image.png" Id="R3675c716056643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cce32f85144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22d279eba48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9d30f5d25f49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91d7eca56482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e79476d4f46f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578f5742b4a9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1b0671f504f5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6cf390d1d468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6b6e300914d6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F66779-F1FB-41DC-A84C-C6033AFABC9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6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A741919-DEBC-40D8-8DEB-258C0B24F5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A81C73-E981-44F6-8479-C6ED9BBC3E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1327FC-1FA0-4196-ADAE-AA97B2BAD2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3F9CD5-46BF-4137-883D-E03978C5F9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9C4616-D18C-46DB-973B-8189A08D9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3867033" y="-2048688"/>
            <a:ext cx="7029567" cy="6697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AD10A5D-3ADA-461E-AB5D-64F87B0B8F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6F4C313-4522-4640-BBE0-A7CD78000E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7BB1B2-548A-4D4E-9996-E59C1D4648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110AC8-F4BC-4277-9BBA-352357C92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  <p:pic>
        <p:nvPicPr>
          <p:cNvPr id="2052" name="Picture 4">
            <a:extLst xmlns:a="http://schemas.openxmlformats.org/drawingml/2006/main">
              <a:ext uri="{FF2B5EF4-FFF2-40B4-BE49-F238E27FC236}">
                <a16:creationId xmlns:a16="http://schemas.microsoft.com/office/drawing/2014/main" id="{BB236457-B502-4F10-B2CC-D07ED03070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c0730d36348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7646"/>
            <a:ext cx="1280593" cy="1086452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3506DB9D-47DB-4941-B297-A4475C7840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5c71605664383"/>
          <a:srcRect xmlns:a="http://schemas.openxmlformats.org/drawingml/2006/main" l="0" t="0" r="888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42103" y="41470"/>
            <a:ext cx="1280593" cy="126712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DEBE05-2BF9-4D33-98BA-4EB6953A2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1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B3ECE8B-30FE-47A7-BD0B-980F1A698D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B7B4F1-D5FA-44B0-BD7B-55D1E86A16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F060E1-DAA8-40E1-B98D-30E306871B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1CB2A8-B186-47BD-9810-63F13B424E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482F4E-B3F3-41B4-94EC-35BA5C436E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47F319-AA2A-40D6-9794-5687742A8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1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50C1D50-2F49-4F63-A826-0F63501372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1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E1F8FD8-C6CA-453E-A2E2-5341FD0C49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68F2F7D-92EA-4DCE-9C38-D926AE091D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5A433D9-6C71-41F9-B714-11B51CCAA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071B11-B863-4EEE-A0ED-FE567D89ED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13B8095-088D-439F-9D72-51F9D222A3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70C49B6-E823-4247-AD01-A96BF33835E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39202E8-F863-42BC-A542-CD3C44ABE52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8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921850C-4DF9-4A73-94CD-8A6C1A8F972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8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AAAC8B5-6E85-494F-A769-411ECCB9CB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AFD8A6C-0C4E-4193-A66F-7FA7F9C04F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612FB7-0710-45D4-BD00-FA54348AC6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64777D-4F89-44D3-BBCF-8DBE20A7D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B1AAB9E-A8DC-4E8A-AB30-CB1214942D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155BFA9-1048-4B88-B427-800A0F973E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2437E0C-D8B9-47F2-ABF0-8B6E6D48F9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398717A-83CD-42A4-821F-1D8C76D011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052EA6D-2BC7-4A2B-B5F0-6C97325521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0BAE3A4-CEB1-488D-8E2C-D6430AB9DE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907987-A1A3-49AB-8728-B677E476A8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1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490B939-2F16-480E-B0CD-9709672AD07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1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6FD4C1D-3234-4F52-BBF0-3297B89A7F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1" y="1435101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C42EEEC-AF0D-4A51-AC15-5A49ACE1F6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0D0FCB7-FEB1-4C03-A686-CF701793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2DA087A-3229-403F-BA9A-1DBC90131F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CF612B-EA06-42FE-9B61-997969010D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7EC998F-FFC0-40AC-A120-D4564680687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1A58065-4191-4CF1-8DB3-AD4014C613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5DE3976-B896-48E8-B7BB-64BA133AF6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7EFEFC7-0292-4241-9ABD-E9C17FEF24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B519783-ABE0-443A-991F-2A3C640FA3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345547-3DB6-41F5-8069-13C2807A4D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DEA671-85C4-4390-93AF-1748B726F8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EFE6FB-5CCF-411D-BEC6-4DD151CC1E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85761CD-EB13-47E8-ADA7-94691E197E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A11410-0BEC-4FF2-965D-B938E00359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305A7DF-84A9-4161-A90F-B4BEB4D77C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39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8480C75-1344-4BA4-AD8F-600272CA72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39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AE422F8-AA9C-4741-89AE-89B21BF050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A68679-E9B4-49C4-AD26-FB304C7C4B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73F28A-6E6D-4157-BE24-848862FCB3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e6413419524812" /><Relationship Type="http://schemas.openxmlformats.org/officeDocument/2006/relationships/slideLayout" Target="/ppt/slideLayouts/slideLayout1.xml" Id="R609ddfdf38684cb3" /><Relationship Type="http://schemas.openxmlformats.org/officeDocument/2006/relationships/slideLayout" Target="/ppt/slideLayouts/slideLayout2.xml" Id="Rb518a9493e174f25" /><Relationship Type="http://schemas.openxmlformats.org/officeDocument/2006/relationships/slideLayout" Target="/ppt/slideLayouts/slideLayout3.xml" Id="R21267645bc4b4d5c" /><Relationship Type="http://schemas.openxmlformats.org/officeDocument/2006/relationships/slideLayout" Target="/ppt/slideLayouts/slideLayout4.xml" Id="Rf9056bacf4064e86" /><Relationship Type="http://schemas.openxmlformats.org/officeDocument/2006/relationships/slideLayout" Target="/ppt/slideLayouts/slideLayout5.xml" Id="Ra4055e08cb1f4226" /><Relationship Type="http://schemas.openxmlformats.org/officeDocument/2006/relationships/slideLayout" Target="/ppt/slideLayouts/slideLayout6.xml" Id="R23b0b427d29c4d07" /><Relationship Type="http://schemas.openxmlformats.org/officeDocument/2006/relationships/slideLayout" Target="/ppt/slideLayouts/slideLayout7.xml" Id="R9a7231abd1e844e7" /><Relationship Type="http://schemas.openxmlformats.org/officeDocument/2006/relationships/slideLayout" Target="/ppt/slideLayouts/slideLayout8.xml" Id="R049e1af3ae2d413b" /><Relationship Type="http://schemas.openxmlformats.org/officeDocument/2006/relationships/slideLayout" Target="/ppt/slideLayouts/slideLayout9.xml" Id="R6bd586602d494ef1" /><Relationship Type="http://schemas.openxmlformats.org/officeDocument/2006/relationships/slideLayout" Target="/ppt/slideLayouts/slideLayout10.xml" Id="Rbe0491b6588647e7" /><Relationship Type="http://schemas.openxmlformats.org/officeDocument/2006/relationships/slideLayout" Target="/ppt/slideLayouts/slideLayout11.xml" Id="R94c81a7261bd480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F2728B1-5342-4FA4-B9EF-C8F87F342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B08A54A-9959-4523-944F-820E731160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1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D8BFEF-962D-4002-877A-C6B86C08917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BA77D81-B388-4C6C-8B8B-D6F73417A30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1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6249C1-28C1-4CE8-B332-28C56C3BA6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9ddfdf38684cb3"/>
    <p:sldLayoutId xmlns:r="http://schemas.openxmlformats.org/officeDocument/2006/relationships" id="2147483650" r:id="Rb518a9493e174f25"/>
    <p:sldLayoutId xmlns:r="http://schemas.openxmlformats.org/officeDocument/2006/relationships" id="2147483651" r:id="R21267645bc4b4d5c"/>
    <p:sldLayoutId xmlns:r="http://schemas.openxmlformats.org/officeDocument/2006/relationships" id="2147483652" r:id="Rf9056bacf4064e86"/>
    <p:sldLayoutId xmlns:r="http://schemas.openxmlformats.org/officeDocument/2006/relationships" id="2147483653" r:id="Ra4055e08cb1f4226"/>
    <p:sldLayoutId xmlns:r="http://schemas.openxmlformats.org/officeDocument/2006/relationships" id="2147483654" r:id="R23b0b427d29c4d07"/>
    <p:sldLayoutId xmlns:r="http://schemas.openxmlformats.org/officeDocument/2006/relationships" id="2147483655" r:id="R9a7231abd1e844e7"/>
    <p:sldLayoutId xmlns:r="http://schemas.openxmlformats.org/officeDocument/2006/relationships" id="2147483656" r:id="R049e1af3ae2d413b"/>
    <p:sldLayoutId xmlns:r="http://schemas.openxmlformats.org/officeDocument/2006/relationships" id="2147483657" r:id="R6bd586602d494ef1"/>
    <p:sldLayoutId xmlns:r="http://schemas.openxmlformats.org/officeDocument/2006/relationships" id="2147483658" r:id="Rbe0491b6588647e7"/>
    <p:sldLayoutId xmlns:r="http://schemas.openxmlformats.org/officeDocument/2006/relationships" id="2147483659" r:id="R94c81a7261bd480b"/>
  </p:sldLayoutIdLst>
  <p:hf hdr="0"/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971e622e041a2" /><Relationship Type="http://schemas.openxmlformats.org/officeDocument/2006/relationships/image" Target="/ppt/media/image2.png" Id="R016687fa798c49b6" /><Relationship Type="http://schemas.openxmlformats.org/officeDocument/2006/relationships/image" Target="/ppt/media/image.png" Id="R53b6abdb0f1a4279" /><Relationship Type="http://schemas.openxmlformats.org/officeDocument/2006/relationships/notesSlide" Target="/ppt/notesSlides/notesSlide1.xml" Id="R75b0501f73be43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0f12df702f4d0f" /><Relationship Type="http://schemas.openxmlformats.org/officeDocument/2006/relationships/notesSlide" Target="/ppt/notesSlides/notesSlide2.xml" Id="R7782f9e90f4b4f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eb90aca0774b95" /><Relationship Type="http://schemas.openxmlformats.org/officeDocument/2006/relationships/notesSlide" Target="/ppt/notesSlides/notesSlide3.xml" Id="Ra6a3414db16048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321d3d10d54f62" /><Relationship Type="http://schemas.openxmlformats.org/officeDocument/2006/relationships/notesSlide" Target="/ppt/notesSlides/notesSlide4.xml" Id="Ra664390075ce46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96ce68c398468b" /><Relationship Type="http://schemas.openxmlformats.org/officeDocument/2006/relationships/notesSlide" Target="/ppt/notesSlides/notesSlide5.xml" Id="R9329e09211bc45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ff8abd46bf43f5" /><Relationship Type="http://schemas.openxmlformats.org/officeDocument/2006/relationships/notesSlide" Target="/ppt/notesSlides/notesSlide6.xml" Id="Rd678a6b25a8e45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67b07cbe2848e5" /><Relationship Type="http://schemas.openxmlformats.org/officeDocument/2006/relationships/notesSlide" Target="/ppt/notesSlides/notesSlide7.xml" Id="R6796afdb0c7d4d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017435f1104a19" /><Relationship Type="http://schemas.openxmlformats.org/officeDocument/2006/relationships/notesSlide" Target="/ppt/notesSlides/notesSlide8.xml" Id="Rf70b03e04d4c47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df58186ab34e3b" /><Relationship Type="http://schemas.openxmlformats.org/officeDocument/2006/relationships/notesSlide" Target="/ppt/notesSlides/notesSlide9.xml" Id="R205d6847fb0846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0c2ff296cf457f" /><Relationship Type="http://schemas.openxmlformats.org/officeDocument/2006/relationships/notesSlide" Target="/ppt/notesSlides/notesSlide10.xml" Id="Rd5b53295c87543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f6ea3f5df2414b" /><Relationship Type="http://schemas.openxmlformats.org/officeDocument/2006/relationships/notesSlide" Target="/ppt/notesSlides/notesSlide11.xml" Id="R21647e0f558f4b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053e288936434b" /><Relationship Type="http://schemas.openxmlformats.org/officeDocument/2006/relationships/notesSlide" Target="/ppt/notesSlides/notesSlide12.xml" Id="R709bcae44e2843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4a72cb5c1d4c64" /><Relationship Type="http://schemas.openxmlformats.org/officeDocument/2006/relationships/notesSlide" Target="/ppt/notesSlides/notesSlide13.xml" Id="R6894a2ae0a5847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c0b6d2628740c0" /><Relationship Type="http://schemas.openxmlformats.org/officeDocument/2006/relationships/notesSlide" Target="/ppt/notesSlides/notesSlide14.xml" Id="Rd4e4b711f80241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2E3470-95D7-44BA-AA1F-8B07AEBBCB6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616927" y="1698208"/>
            <a:ext cx="8887521" cy="880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  <a:endParaRPr sz="3200" b="1">
              <a:solidFill>
                <a:schemeClr val="accent1">
                  <a:lumMod val="50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EB378AD-02FE-4749-AB7D-38413E00E7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93469" y="3732357"/>
            <a:ext cx="6190488" cy="2971800"/>
          </a:xfrm>
        </p:spPr>
        <p:txBody>
          <a:bodyPr xmlns:a="http://schemas.openxmlformats.org/drawingml/2006/main">
            <a:normAutofit fontScale="78891" lnSpcReduction="20000"/>
          </a:bodyPr>
          <a:lstStyle xmlns:a="http://schemas.openxmlformats.org/drawingml/2006/main">
            <a:defPPr algn="ctr">
              <a:defRPr sz="1350" b="1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MediFlow: An Intelligent Virtual Crowd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908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Management Platform</a:t>
            </a:r>
            <a:endParaRPr sz="48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spcBef>
                <a:spcPts val="776"/>
              </a:spcBef>
              <a:buClr>
                <a:schemeClr val="dk2"/>
              </a:buClr>
              <a:buSzPct val="100000"/>
              <a:buNone/>
            </a:pPr>
            <a:r>
              <a:rPr sz="3700" b="1">
                <a:latin typeface="Times New Roman"/>
                <a:ea typeface="Times New Roman"/>
                <a:cs typeface="Times New Roman"/>
              </a:rPr>
              <a:t/>
            </a:r>
            <a:endParaRPr sz="37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776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Submitted by:</a:t>
            </a:r>
            <a:endParaRPr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776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Student Name(s) (USN)</a:t>
            </a:r>
            <a:endParaRPr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spcBef>
                <a:spcPts val="820"/>
              </a:spcBef>
              <a:buClr>
                <a:schemeClr val="dk2"/>
              </a:buClr>
              <a:buSzPct val="100000"/>
              <a:buNone/>
            </a:pPr>
            <a:r>
              <a:rPr sz="3400" b="1">
                <a:latin typeface="Times New Roman"/>
                <a:ea typeface="Times New Roman"/>
                <a:cs typeface="Times New Roman"/>
              </a:rPr>
              <a:t/>
            </a:r>
            <a:endParaRPr sz="34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UNDER THE GUIDANCE OF:</a:t>
            </a: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Faculty Guide</a:t>
            </a: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Department of CSE</a:t>
            </a:r>
            <a:endParaRPr sz="2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BMSIT&amp;M</a:t>
            </a:r>
            <a:endParaRPr sz="2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2026–27</a:t>
            </a:r>
            <a:endParaRPr sz="2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28" name="Picture 4">
            <a:extLst xmlns:a="http://schemas.openxmlformats.org/drawingml/2006/main">
              <a:ext uri="{FF2B5EF4-FFF2-40B4-BE49-F238E27FC236}">
                <a16:creationId xmlns:a16="http://schemas.microsoft.com/office/drawing/2014/main" id="{CFB2A2FF-AACE-4C98-97EF-A6F567D267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687fa798c49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0010" y="-16064"/>
            <a:ext cx="9012936" cy="2014174"/>
          </a:xfrm>
          <a:prstGeom xmlns:a="http://schemas.openxmlformats.org/drawingml/2006/main" prst="rect">
            <a:avLst/>
          </a:prstGeom>
        </p:spPr>
      </p:pic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45F9DE8D-BEDA-78E6-1063-A5D3E745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546" y="2716554"/>
            <a:ext cx="6629400" cy="88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70000" lnSpcReduction="20000"/>
          </a:bodyPr>
          <a:lstStyle xmlns:a="http://schemas.openxmlformats.org/drawingml/2006/main">
            <a:lvl1pPr algn="ctr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 sz="2800" b="1">
              <a:solidFill>
                <a:schemeClr val="accent2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Mini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Project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- Review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1 </a:t>
            </a:r>
          </a:p>
          <a:p xmlns:a="http://schemas.openxmlformats.org/drawingml/2006/main"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V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Sem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(BCS506)</a:t>
            </a:r>
          </a:p>
          <a:p xmlns:a="http://schemas.openxmlformats.org/drawingml/2006/main">
            <a:endParaRPr sz="2800" b="1">
              <a:solidFill>
                <a:schemeClr val="accent2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D7FA0A5E-FF62-4188-AE63-8B26752971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6abdb0f1a4279"/>
          <a:srcRect xmlns:a="http://schemas.openxmlformats.org/drawingml/2006/main" l="0" t="0" r="888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94471" y="118194"/>
            <a:ext cx="1596807" cy="15800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4885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7FC94-BEFE-469F-B084-7FBC7C368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Problem Statement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D5EE97-F941-4F61-8E19-0E1623B64A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>CONTENTS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B59537-9AB8-489F-AFDF-29BF2D9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3611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Objectives</a:t>
            </a: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and Proposed System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Major Modules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Hybrid Queue Optimization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Workflow and Architecture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Technology Stack and Database Design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 Use Case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Expected Benefits and Future Enhancements</a:t>
            </a: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8876910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7FC94-BEFE-469F-B084-7FBC7C368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952500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D5EE97-F941-4F61-8E19-0E1623B64A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9525000" y="0"/>
            <a:ext cx="9525" cy="95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B59537-9AB8-489F-AFDF-29BF2D9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0"/>
            <a:ext cx="952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6BB3C-45E8-4C8B-947E-1CE58040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ED47E-5CBB-49EE-AAAF-A7563F57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7C48C-E9FA-4E23-86F4-00830A7C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Virtual queues reduce unnecessary waiting inside care facilities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CD1E6-C2AB-44FE-A53D-CCF14055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912F2-4DB8-413A-80E7-879DD617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56A91-1160-4433-B8F1-94FAEE9C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Hospitals and diagnostic centers often face congestion at registration, consultation, labs, pharmacy, and billing.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C4CFB-0B30-4058-A623-1E437E26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8A5DE-0C0C-4F1F-956B-8A7E5F15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575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Long physical queues delay care, strain staff, and increase infection exposure for vulnerable patients.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A1F0A-372A-40C6-B238-275AD152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24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C22C1-3846-4995-A06D-83D7ADDD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5242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MediFlow gives patients a digital token, estimated waiting time, and arrival recommendation.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8A222-54E9-47D1-97D4-7ED23025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495C5-D570-4BED-9EEF-AEF5BBB0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910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A live dashboard helps staff see queue growth, service delays, capacity, and crowding risk.</a:t>
            </a:r>
          </a:p>
        </p:txBody>
      </p:sp>
    </p:spTree>
    <p:extLst>
      <p:ext uri="{BB962C8B-B14F-4D97-AF65-F5344CB8AC3E}">
        <p14:creationId xmlns:p14="http://schemas.microsoft.com/office/powerpoint/2010/main" val="8876910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7FC94-BEFE-469F-B084-7FBC7C368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952500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D5EE97-F941-4F61-8E19-0E1623B64A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9525000" y="0"/>
            <a:ext cx="9525" cy="95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B59537-9AB8-489F-AFDF-29BF2D9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0"/>
            <a:ext cx="952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C4B47-AB48-4CDF-A493-DDC8A26B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579A0-3446-46D4-BA0A-21548A7F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Problem Statement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26ED9-2959-4FA1-8888-81B32493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Manual and first-come-first-served queues cannot adapt to clinical reality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49253-BFD3-4B40-8597-9B339D2C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AD4A0-D18C-4A74-A8A5-FE575C75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3827A-C26D-40E8-81BF-23AD446B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Urgency, age risk, appointments, walk-ins, and emergency cases require different treatment.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08F15-4101-4042-89EC-AA1D7B91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72B50-A505-4CB1-9C9A-50666A1B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575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Doctor delays and variable consultation times make static appointment registers unreliable.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97BF5-D8AA-4F02-BE05-3AB7784C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24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DE65B-D334-49AB-88E3-9E00E84D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5242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Patients move through dependent stages such as registration, consultation, lab testing, and pharmacy.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FBCF6-D656-4406-B82A-23025B89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33361-E417-4051-B96C-DBF73699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910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Administrators lack early warning when peak-hour demand exceeds seating or service capacity.</a:t>
            </a:r>
          </a:p>
        </p:txBody>
      </p:sp>
    </p:spTree>
    <p:extLst>
      <p:ext uri="{BB962C8B-B14F-4D97-AF65-F5344CB8AC3E}">
        <p14:creationId xmlns:p14="http://schemas.microsoft.com/office/powerpoint/2010/main" val="8876910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7FC94-BEFE-469F-B084-7FBC7C368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952500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D5EE97-F941-4F61-8E19-0E1623B64A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9525000" y="0"/>
            <a:ext cx="9525" cy="95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B59537-9AB8-489F-AFDF-29BF2D9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0"/>
            <a:ext cx="952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C7CA3-962C-46E9-8A51-0E767752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E9C07-CC8C-48FF-A44F-9028044C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Project Objectives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D528F-F3A0-43EE-B047-FD7C089E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Patient-focused flow management with operational visibility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85F9D-03DF-4DE6-821B-8FAA493B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FAD7E-C393-4D2E-8004-D210BF9B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FF6FB-A14E-47CC-B0BA-D20ED6F7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Reduce crowding in waiting areas through virtual tokens and suggested arrival times.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EC949-15EC-4C80-B530-2D84D3AB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432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91450-E23A-4A2E-987B-089F3EA6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74320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Provide real-time queue position and estimated waiting-time ranges.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20287-70F7-4A04-9E64-D933288B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956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AE649-365A-4E1C-96E6-5C5B392A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9565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Prioritize emergency and high-risk patients while preventing excessive routine waits.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8788E-F693-46CF-8F7E-57F07AC7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481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81274-0358-4ADE-8E73-9CE4EE8B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4810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Predict peak load and help staff allocate counters, rooms, doctors, and technicians.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41D01A-ACE0-4C20-8885-AEC4E424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005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EBF55-F218-4B9C-BAA6-7700FAC3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40055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Maintain a digital movement record for each patient service stage.</a:t>
            </a:r>
          </a:p>
        </p:txBody>
      </p:sp>
    </p:spTree>
    <p:extLst>
      <p:ext uri="{BB962C8B-B14F-4D97-AF65-F5344CB8AC3E}">
        <p14:creationId xmlns:p14="http://schemas.microsoft.com/office/powerpoint/2010/main" val="8876910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7FC94-BEFE-469F-B084-7FBC7C368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952500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D5EE97-F941-4F61-8E19-0E1623B64A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9525000" y="0"/>
            <a:ext cx="9525" cy="95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B59537-9AB8-489F-AFDF-29BF2D9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0"/>
            <a:ext cx="952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E9932-00D4-49DC-A354-3D898AA4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45A4C-024C-4704-879F-17CA040D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Existing System and MediFlow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D5794-A1B4-4E6D-92B7-C62BE34C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From manual queue handling to adaptive patient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ACE66-3BF5-4244-97B1-B6AA5357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57505-BC75-4184-BAA3-F0AE5C8F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9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A23434"/>
                </a:solidFill>
              </a:defRPr>
            </a:pPr>
            <a:r>
              <a:rPr sz="1950" b="1">
                <a:solidFill>
                  <a:srgbClr val="A23434"/>
                </a:solidFill>
              </a:rPr>
              <a:t>Existing approach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70229-F9BF-4DEF-BAE3-583E8BD0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9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3F62"/>
                </a:solidFill>
              </a:defRPr>
            </a:pPr>
            <a:r>
              <a:rPr sz="1950" b="1">
                <a:solidFill>
                  <a:srgbClr val="243F62"/>
                </a:solidFill>
              </a:rPr>
              <a:t>MediFlow approach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2E00B-6081-4052-97B4-E8CFF3AD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8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17254-F8F0-4B2B-AF66-CAA68DD7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384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Paper slips or isolated registers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2C244-BF7B-413B-884F-EEAD8680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0FD9B-A786-49F3-9FF2-7C80D69C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290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First-come-first-served lines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F629D-5683-4FE3-9928-C5A74D2A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86FB78-E711-4500-BDB2-8F61CF89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195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Manual delay communication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EE92B-6358-4CC7-9201-14A85344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11494-A065-4990-8C94-D2BCD6C8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Limited visibility of queue 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2D8BD-17A1-4D30-A948-A708BE06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38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650ED9-1082-46C8-B717-34F9DBE7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384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Digital tokens from app, kiosk, web, or reception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554EE-D4F7-417C-BFBD-BA0BD57F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290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A61A45-8374-4B30-A284-BDCEE8B7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290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Weighted priority queue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9EED98-DF27-4CF2-AF96-04579C42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195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BD484B-8E6B-48BC-A050-83CD6C38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195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Live alerts and revised arrival times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667AF2-FAAF-4456-824D-B4708844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101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C7F4F8-CD1E-4CEA-8C94-3862C60C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6101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Dashboard with capacity and crowd-risk signals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8008C9-5B45-48EE-9E1F-8608340C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0" cy="2667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5CB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76910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7FC94-BEFE-469F-B084-7FBC7C368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952500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D5EE97-F941-4F61-8E19-0E1623B64A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9525000" y="0"/>
            <a:ext cx="9525" cy="95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B59537-9AB8-489F-AFDF-29BF2D9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0"/>
            <a:ext cx="952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BAD9F-E159-4A97-B6F4-35484D80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274F9-199B-47BF-B1C3-718DBDB3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Major Modules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46C80-E301-4E7F-9C11-9D84221F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A connected service layer for patients and hospital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88E75-34CA-401C-9496-9E82C2AC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741AD-5030-4028-8647-97044018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6E932-8C7D-4038-9FAD-FEB5B445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860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Patient registration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8BA80-F8D9-4483-B875-5BADACC4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Appointments, walk-in tokens, referrals, and queue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7EC47-BF03-4B1C-880B-D4BB7571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FADCE-A74F-4601-9B35-BCA52A3D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Smart virtual queue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4A1E3-22DB-4B87-8305-EF6634D1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241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Token display, patients ahead, ETA, and arrival prompts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54986-A402-4D82-AC61-4C7BD05D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349AB-9A09-446F-8303-EC2B3404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Priority allocation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DE45A-9DFF-43D1-9E14-343DA63B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Urgency, age risk, appointment status, and waiting 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AC5B2-2422-455B-8108-2C1304EF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41023-BA05-4CE4-8B3A-F5217BDC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Prediction and alerts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BDB39-282D-446E-80DE-EA2C2B02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95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Waiting-time estimation and crowd-risk detection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6C89B-07D7-4757-9E41-F76E3FEF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159901-FDAF-4422-B777-CCF4873F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Admin 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E57E9E-99C2-44A1-870B-CAF54C31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Queues, staff status, capacity, analytics, and action alerts</a:t>
            </a:r>
          </a:p>
        </p:txBody>
      </p:sp>
    </p:spTree>
    <p:extLst>
      <p:ext uri="{BB962C8B-B14F-4D97-AF65-F5344CB8AC3E}">
        <p14:creationId xmlns:p14="http://schemas.microsoft.com/office/powerpoint/2010/main" val="8876910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7FC94-BEFE-469F-B084-7FBC7C368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952500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D5EE97-F941-4F61-8E19-0E1623B64A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9525000" y="0"/>
            <a:ext cx="9525" cy="95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B59537-9AB8-489F-AFDF-29BF2D9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0"/>
            <a:ext cx="952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10E72-D2E2-415E-B76D-2A00811E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BFB61-92A5-4F38-8351-9474FD4E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Hybrid Queue Optimization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06BF3-C9B4-4AA2-AEB7-2875C057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Priority-based allocation plus machine-learning 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D2392-047E-4F64-A0B4-8845F63A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9E402-212E-4F42-A680-B9375680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Priority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9A0E3-6A72-414A-B28D-353D66DB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442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(Urgency × Wu) + (Age Risk × Wa) +</a:t>
            </a:r>
          </a:p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(Appointment Status × Ws) + (Waiting Time × Ww)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86CE5-B9DE-4ECD-9128-F62F046C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Waiting-time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E3478-CAED-42EB-A331-3EF9D7A0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Inputs: queue length, doctor, service type,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staff availability, delays, and historical durations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Output: an estimated range, such as 18–25 minutes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2F28E-5E44-46B8-96FC-33DE4A33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Crowd-risk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F010D-2470-43DE-A0D7-D2D4EBE4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196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(Current Patients + Predicted Arrivals)</a:t>
            </a:r>
          </a:p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÷ Available Service Capacity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A5B5E-6EBB-4A25-8789-A7E0C113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Risk levels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49637-13AE-4CA3-AD93-B8C8FAFF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Green  Low     Yellow  Moderate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Orange  High     Red  Critical overcrowding</a:t>
            </a:r>
          </a:p>
        </p:txBody>
      </p:sp>
    </p:spTree>
    <p:extLst>
      <p:ext uri="{BB962C8B-B14F-4D97-AF65-F5344CB8AC3E}">
        <p14:creationId xmlns:p14="http://schemas.microsoft.com/office/powerpoint/2010/main" val="8876910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7FC94-BEFE-469F-B084-7FBC7C368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952500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D5EE97-F941-4F61-8E19-0E1623B64A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9525000" y="0"/>
            <a:ext cx="9525" cy="95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B59537-9AB8-489F-AFDF-29BF2D9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0"/>
            <a:ext cx="952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971F6-9490-46DF-A798-C883656A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864BC-A078-4FE4-AABA-6789D70A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System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73DDB-5A76-4650-A958-197A2194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Virtual token issue through service completion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E4077-0EF9-433A-AA25-F8077C6C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54D54-6721-4008-993F-943527F7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C7DF2-D409-4880-85E4-B942D8B7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104D2-39ED-4D06-82D5-D5D64B95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Register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D9FFA-E6EA-43CE-B6A5-36C05151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3D6D1-0CD1-469A-A748-FEB5D839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0CE9E-058C-4EA6-9640-59E3B8BE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43F62"/>
                </a:solidFill>
              </a:defRPr>
            </a:pPr>
            <a:r>
              <a:rPr sz="1125" b="1">
                <a:solidFill>
                  <a:srgbClr val="243F62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23B6E-2ADB-4393-94AC-CB2A7E45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Verify or create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walk-in entry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5D873-5AFC-4CD2-9E5F-666824B8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CF414-213F-4236-88C3-5BF4E5A7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1E019C-5DA5-411C-A7D2-88BB2C52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34D85A-52C0-4136-99E3-33A054FA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Issue digital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token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F43065-51E5-4EE2-B684-DFCAB2A7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DF644-1A4B-456E-8721-FE72010B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648FA-6380-4134-A2D0-E3DC26F7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43F62"/>
                </a:solidFill>
              </a:defRPr>
            </a:pPr>
            <a:r>
              <a:rPr sz="1125" b="1">
                <a:solidFill>
                  <a:srgbClr val="243F62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CCA0B3-ACDB-4A54-82CA-F5C4821A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Apply priority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queue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51F825-3BA0-44D5-B333-0A2230BC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273395-84B6-40D3-8C23-13F5F936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126FD3-2396-48C1-BC74-686DE764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77A260-0960-4100-A804-C8D58AC1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Predict wait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463046-6C4A-498C-8C8C-4C50C8C8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854613-8805-4455-BDE0-B7293171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51D40A-E63D-42C6-9DB9-78130696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43F62"/>
                </a:solidFill>
              </a:defRPr>
            </a:pPr>
            <a:r>
              <a:rPr sz="1125" b="1">
                <a:solidFill>
                  <a:srgbClr val="243F62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9C45A4-9D1E-482D-9D65-5C3C53B3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Notify and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call patient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CC3B82-C166-455C-A094-E474149C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C53982-E543-4685-BA50-2C97915D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79B6A2-973E-4345-B86E-9884250F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A7F441-97F6-4A3B-8634-FAEFDC08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Complete or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move to next stage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7752F3-FF71-4E1F-AA7B-5AEDF0A1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7675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At every update, the dashboard recalculates wait estimates and checks crowd risk.</a:t>
            </a:r>
          </a:p>
        </p:txBody>
      </p:sp>
    </p:spTree>
    <p:extLst>
      <p:ext uri="{BB962C8B-B14F-4D97-AF65-F5344CB8AC3E}">
        <p14:creationId xmlns:p14="http://schemas.microsoft.com/office/powerpoint/2010/main" val="8876910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7FC94-BEFE-469F-B084-7FBC7C368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952500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D5EE97-F941-4F61-8E19-0E1623B64A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9525000" y="0"/>
            <a:ext cx="9525" cy="95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B59537-9AB8-489F-AFDF-29BF2D9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0"/>
            <a:ext cx="952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FAEAC-4EDB-4289-84F3-08E4964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00953-C562-40C7-A4B4-B61794E6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Proposed System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6CE88-79FB-4E77-ABBF-96FA2E53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Real-time patient flow from entry points to operational 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B55FC-3ABD-4CE0-BEFE-21067523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36AB1-393F-4C69-ABD4-64F068E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19375"/>
            <a:ext cx="2667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BFC7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F9872-8159-4FAB-BBF5-6F9BEF77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575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Entry channels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F04D3-0EE8-44E1-9D58-9E5617B8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33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Mobile app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Hospital kiosk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Website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Reception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26274-41FA-4D8D-BD68-1A277B60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7662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31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A23434"/>
                </a:solidFill>
              </a:defRPr>
            </a:pPr>
            <a:r>
              <a:rPr sz="31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1761E-D297-4107-B70F-C5986554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2667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48B14-EC9A-4015-8708-22F22ACF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75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43F62"/>
                </a:solidFill>
              </a:defRPr>
            </a:pPr>
            <a:r>
              <a:rPr sz="1650" b="1">
                <a:solidFill>
                  <a:srgbClr val="243F62"/>
                </a:solidFill>
              </a:rPr>
              <a:t>MediFlow 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CC9ED-7E96-41BB-A181-A82B1B18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33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Token service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Priority queue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ML prediction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Notification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3D5F6-8323-4724-BA96-E0B02136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47662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31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A23434"/>
                </a:solidFill>
              </a:defRPr>
            </a:pPr>
            <a:r>
              <a:rPr sz="31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6C652-F328-40F7-84CC-33C76087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19375"/>
            <a:ext cx="2667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BFC7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B386D-2346-427E-9FDA-B580DDB6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575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2AE52-BDD3-49BB-B68B-A4A9B165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33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Admin dashboard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Doctor and lab status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Capacity alerts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Analytics</a:t>
            </a:r>
          </a:p>
        </p:txBody>
      </p:sp>
    </p:spTree>
    <p:extLst>
      <p:ext uri="{BB962C8B-B14F-4D97-AF65-F5344CB8AC3E}">
        <p14:creationId xmlns:p14="http://schemas.microsoft.com/office/powerpoint/2010/main" val="8876910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7FC94-BEFE-469F-B084-7FBC7C368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952500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D5EE97-F941-4F61-8E19-0E1623B64A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9525000" y="0"/>
            <a:ext cx="9525" cy="95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B59537-9AB8-489F-AFDF-29BF2D9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0"/>
            <a:ext cx="952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DB241-B03C-4F72-9831-E3474C67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1ED39-D88D-4990-9043-A98FB8A6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Technology Stack and Data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07818-6FEB-49E3-85B3-0E297743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Suggested mini-project implementation choices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ED3CF-8456-496C-ACE8-18F629A3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F6584-1523-4284-B666-6FFE910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Technology 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8FF62-2BCD-4A28-AAAD-D7BE1189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B2F45-213E-4C32-BC7A-48BD66C4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670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Frontend: React.js, HTML, CSS, Bootstrap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C1B79-E5C6-433F-BD48-964FE6FC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CA365-15DE-4B83-8C5A-2CD2D70A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004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Mobile: Flutter or React Native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DA509-FCB0-46BE-9133-6EF5B129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90066-D409-4F8F-8CE5-E5714624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338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Backend: Python Flask/Django or Node.js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332F8-A682-4BA3-A004-9C4B4672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78779-D423-420B-92C9-9707DEF1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2672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Data and ML: MySQL/PostgreSQL, Python, Scikit-learn, Pandas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857B6-DE1F-4107-98F4-62C7AB81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7F3E51-5142-49D5-A991-0A1B927F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8006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Real-time updates: Firebase, Socket.IO, or WebSockets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684C26-17AA-4C0E-92FD-6CB93B6A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Core data entities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D02975-7420-431F-9453-2E71017E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1BAE90-68CD-4148-A9FB-20AEFD8C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6700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Patients and appointments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0DD0DB-265D-48D9-9E88-938430DC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615ACB-DB00-4753-BA12-E232D80D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194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Tokens and queue logs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8FF8C5-D51C-492C-A0F3-4FD44A08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284AC-F997-4742-A6E8-A6810A2D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7190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Doctors and departments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9554B7-F0B5-44B5-938F-2FD385FC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4C74B1-75B4-4DEA-A14C-2F826192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Crowd metrics and notifications</a:t>
            </a:r>
          </a:p>
        </p:txBody>
      </p:sp>
    </p:spTree>
    <p:extLst>
      <p:ext uri="{BB962C8B-B14F-4D97-AF65-F5344CB8AC3E}">
        <p14:creationId xmlns:p14="http://schemas.microsoft.com/office/powerpoint/2010/main" val="8876910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7FC94-BEFE-469F-B084-7FBC7C368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952500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D5EE97-F941-4F61-8E19-0E1623B64A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9525000" y="0"/>
            <a:ext cx="9525" cy="95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B59537-9AB8-489F-AFDF-29BF2D9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0"/>
            <a:ext cx="952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49603-7703-41DA-8A00-9EE5B59E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30C2D-B5D5-403C-A12B-162EAEFD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Sample Use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CA907-4970-4D7C-A0CA-2E11CA03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Priya’s dermatology consultation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6C980-20CF-4427-AFE0-B694D118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79C69-CD39-4899-AE99-F8192BB3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3F62"/>
                </a:solidFill>
              </a:defRPr>
            </a:pPr>
            <a:r>
              <a:rPr sz="1575" b="1">
                <a:solidFill>
                  <a:srgbClr val="243F62"/>
                </a:solidFill>
              </a:rPr>
              <a:t>10:00 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8B337-58CE-461B-86ED-56020CFD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3362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72202-97E4-4813-80C6-5C49AAA0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Priya books a consultation and receives token D-27.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1E332-5366-4282-832D-FE577B89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813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Queue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44BAD-D322-4DDF-B1A6-C2E2DEA4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7657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AF2F0-A6CE-474C-89F9-4D7D3E54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8132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The system sees 18 active patients, a 12-minute delay, and a 9-minute average consultation.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07A6B-37D9-4955-8CFE-67DB9D0E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242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3F62"/>
                </a:solidFill>
              </a:defRPr>
            </a:pPr>
            <a:r>
              <a:rPr sz="1575" b="1">
                <a:solidFill>
                  <a:srgbClr val="243F62"/>
                </a:solidFill>
              </a:rPr>
              <a:t>10:30 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5BACB-83AC-4CE3-B715-32B18E47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1952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08BF4-7858-4998-92BE-D5C93CCC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2427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MediFlow advises Priya to arrive at the dermatology waiting area.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DAAE6-E365-40C5-A781-2B02CE31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672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10:25 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65DDD6-6EFD-4010-AB76-9C23B7B6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6247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10FC70-0B1C-43E6-B8E7-F4D72403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6722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An alert reports that only two patients remain before her turn and directs her to Room 204.</a:t>
            </a:r>
          </a:p>
        </p:txBody>
      </p:sp>
    </p:spTree>
    <p:extLst>
      <p:ext uri="{BB962C8B-B14F-4D97-AF65-F5344CB8AC3E}">
        <p14:creationId xmlns:p14="http://schemas.microsoft.com/office/powerpoint/2010/main" val="8876910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7FC94-BEFE-469F-B084-7FBC7C368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952500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D5EE97-F941-4F61-8E19-0E1623B64A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9525000" y="0"/>
            <a:ext cx="9525" cy="95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B59537-9AB8-489F-AFDF-29BF2D9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0"/>
            <a:ext cx="952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B890B-6036-471F-83D4-9E05E495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72031-CEA8-46DA-8D6B-9C309F5C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Expected Benefits and Future Enhancements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01ADB-F419-4DF9-B3C5-02A62EC1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Near-term operational impact and expansion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D9678-C044-41EE-A91D-6754ECCD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E2390-7EE3-4B51-B9A0-DC370BC2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Expected benefits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71368-F46F-43BE-9306-437B77DF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FE1C5-3F48-4097-A523-4658239E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6700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Shorter perceived and actual wait times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2935A-2625-4F96-A4BB-FE374BF1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19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33587-B93C-4C41-8A3B-1BF9AFF4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1945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Less congestion and infection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A6ABD-F5B3-441E-BC1A-BD02E23F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719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3C9CE-DBBE-4B53-B03F-40A00B60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7190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Better use of clinical staff and rooms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A1DBA-A141-4E5C-AA15-F9785FA4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24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3C6361-CF79-4334-BED3-D0AEABD7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2435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More transparent patient communication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2AD29-6F9B-4389-BB97-A64DB2E0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Future enhancements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806B26-8B48-411B-9B89-D5E54100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B9A633-2380-46BA-83FE-D9B2B7A8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6700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EHR integration and QR check-in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309233-0846-4D87-9294-17E4248D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F1992C-9C7A-47E1-A0CD-773C4829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Indoor navigation and multilingual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A8EBD1-C8B2-4DEA-948F-1546980F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719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5301AA-66B4-44B6-A7D0-EEBAB3CD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7190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Privacy-governed CCTV crowd counting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E79D5-60C7-431A-900B-CF793479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29EADF-374F-40C4-B2CF-CCDB16F1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2435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Predictive staffing and teleconsultation options</a:t>
            </a:r>
          </a:p>
        </p:txBody>
      </p:sp>
    </p:spTree>
    <p:extLst>
      <p:ext uri="{BB962C8B-B14F-4D97-AF65-F5344CB8AC3E}">
        <p14:creationId xmlns:p14="http://schemas.microsoft.com/office/powerpoint/2010/main" val="88769104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7FC94-BEFE-469F-B084-7FBC7C368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952500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D5EE97-F941-4F61-8E19-0E1623B64A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-9525000" y="0"/>
            <a:ext cx="9525" cy="95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B59537-9AB8-489F-AFDF-29BF2D9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0" y="0"/>
            <a:ext cx="952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9C487-D70F-40D7-8C0F-80EA2054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4E2DE-0123-4914-A179-C4670E7C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Conclusion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5180C-64C9-426C-B7B7-F40E4384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A practical mini-project scope for smart healthcare flow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647AD-0E36-42EB-8403-C81DB344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0963C-FD96-4F5F-8719-E59E4071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6DCC0-76D3-47C5-8971-B932E5B0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MediFlow replaces unmanaged physical waiting with virtual tokens, priority rules, and live updates.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343CC-B859-4286-9E22-236F97EF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8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7871A-61E1-4120-86E2-A4576CB4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384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Machine-learning estimates and crowd-risk alerts help hospitals act before congestion becomes critical.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F7352-7257-4C53-8C3E-3D828753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86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6A858-C6CF-4BD3-81D5-83297299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4861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The demonstrable core includes registration, token generation, priority queues, wait prediction, dashboard monitoring, and notifications.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B70E8-4033-4CA0-9B6B-371B5849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338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EE92B-BBB0-4894-90F7-9958F177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338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The design can scale into a broader healthcare operations platform as data and integrations mature.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972F0-CE61-4B2E-86F9-82B3B36B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863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40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A23434"/>
                </a:solidFill>
              </a:defRPr>
            </a:pPr>
            <a:r>
              <a:rPr sz="2400" b="1">
                <a:solidFill>
                  <a:srgbClr val="A23434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8769104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2026-10-10T14:02:41.9300000Z</dcterms:created>
  <dcterms:modified xsi:type="dcterms:W3CDTF">2026-10-10T14:02:41.9300000Z</dcterms:modified>
</coreProperties>
</file>